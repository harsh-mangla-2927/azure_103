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CAMPUS PLACEMENT AI  ·  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A352E"/>
                </a:solidFill>
                <a:latin typeface="Playfair Display"/>
              </a:rPr>
              <a:t>Campus Placement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8686800" cy="2540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7367"/>
                </a:solidFill>
                <a:latin typeface="Playfair Display"/>
              </a:rPr>
              <a:t>AI-Powered Placement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A7367"/>
                </a:solidFill>
                <a:latin typeface="Work Sans"/>
              </a:rPr>
              <a:t>CHITKARA UNIVERSITY, RAJPURA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B.E. Artificial Intelligence &amp; Machine Learning</a:t>
            </a:r>
          </a:p>
        </p:txBody>
      </p:sp>
      <p:sp>
        <p:nvSpPr>
          <p:cNvPr id="9" name="Rectangle 8"/>
          <p:cNvSpPr/>
          <p:nvPr/>
        </p:nvSpPr>
        <p:spPr>
          <a:xfrm rot="120000">
            <a:off x="548640" y="3246120"/>
            <a:ext cx="2057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">
            <a:off x="658368" y="3355848"/>
            <a:ext cx="1837944" cy="1609344"/>
          </a:xfrm>
          <a:prstGeom prst="rect">
            <a:avLst/>
          </a:prstGeom>
          <a:solidFill>
            <a:srgbClr val="F9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597249"/>
            <a:ext cx="18379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7A5A"/>
                </a:solidFill>
                <a:latin typeface="Playfair Display"/>
              </a:rPr>
              <a:t>HM</a:t>
            </a:r>
          </a:p>
        </p:txBody>
      </p:sp>
      <p:sp>
        <p:nvSpPr>
          <p:cNvPr id="12" name="TextBox 11"/>
          <p:cNvSpPr txBox="1"/>
          <p:nvPr/>
        </p:nvSpPr>
        <p:spPr>
          <a:xfrm rot="120000">
            <a:off x="658368" y="5010912"/>
            <a:ext cx="1837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Harsh Mangla
2410992927</a:t>
            </a:r>
          </a:p>
        </p:txBody>
      </p:sp>
      <p:sp>
        <p:nvSpPr>
          <p:cNvPr id="13" name="Rectangle 12"/>
          <p:cNvSpPr/>
          <p:nvPr/>
        </p:nvSpPr>
        <p:spPr>
          <a:xfrm rot="2520000">
            <a:off x="1220724" y="314553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50000">
            <a:off x="2834640" y="3246120"/>
            <a:ext cx="2057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1450000">
            <a:off x="2944368" y="3355848"/>
            <a:ext cx="1837944" cy="1609344"/>
          </a:xfrm>
          <a:prstGeom prst="rect">
            <a:avLst/>
          </a:prstGeom>
          <a:solidFill>
            <a:srgbClr val="EC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3597249"/>
            <a:ext cx="18379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7A5A"/>
                </a:solidFill>
                <a:latin typeface="Playfair Display"/>
              </a:rPr>
              <a:t>NK</a:t>
            </a:r>
          </a:p>
        </p:txBody>
      </p:sp>
      <p:sp>
        <p:nvSpPr>
          <p:cNvPr id="17" name="TextBox 16"/>
          <p:cNvSpPr txBox="1"/>
          <p:nvPr/>
        </p:nvSpPr>
        <p:spPr>
          <a:xfrm rot="21450000">
            <a:off x="2944368" y="5010912"/>
            <a:ext cx="1837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Nipun Kalra
2410993431</a:t>
            </a:r>
          </a:p>
        </p:txBody>
      </p:sp>
      <p:sp>
        <p:nvSpPr>
          <p:cNvPr id="18" name="Rectangle 17"/>
          <p:cNvSpPr/>
          <p:nvPr/>
        </p:nvSpPr>
        <p:spPr>
          <a:xfrm rot="2250000">
            <a:off x="3506724" y="314553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20000">
            <a:off x="5120640" y="3246120"/>
            <a:ext cx="2057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120000">
            <a:off x="5230368" y="3355848"/>
            <a:ext cx="1837944" cy="1609344"/>
          </a:xfrm>
          <a:prstGeom prst="rect">
            <a:avLst/>
          </a:prstGeom>
          <a:solidFill>
            <a:srgbClr val="F9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0368" y="3597249"/>
            <a:ext cx="18379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7A5A"/>
                </a:solidFill>
                <a:latin typeface="Playfair Display"/>
              </a:rPr>
              <a:t>VK</a:t>
            </a:r>
          </a:p>
        </p:txBody>
      </p:sp>
      <p:sp>
        <p:nvSpPr>
          <p:cNvPr id="22" name="TextBox 21"/>
          <p:cNvSpPr txBox="1"/>
          <p:nvPr/>
        </p:nvSpPr>
        <p:spPr>
          <a:xfrm rot="120000">
            <a:off x="5230368" y="5010912"/>
            <a:ext cx="1837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Vineet Kumar
2410993244</a:t>
            </a:r>
          </a:p>
        </p:txBody>
      </p:sp>
      <p:sp>
        <p:nvSpPr>
          <p:cNvPr id="23" name="Rectangle 22"/>
          <p:cNvSpPr/>
          <p:nvPr/>
        </p:nvSpPr>
        <p:spPr>
          <a:xfrm rot="2520000">
            <a:off x="5792724" y="314553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1510000">
            <a:off x="7406640" y="3246120"/>
            <a:ext cx="2057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1510000">
            <a:off x="7516368" y="3355848"/>
            <a:ext cx="1837944" cy="1609344"/>
          </a:xfrm>
          <a:prstGeom prst="rect">
            <a:avLst/>
          </a:prstGeom>
          <a:solidFill>
            <a:srgbClr val="F9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3597249"/>
            <a:ext cx="18379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7A5A"/>
                </a:solidFill>
                <a:latin typeface="Playfair Display"/>
              </a:rPr>
              <a:t>AY</a:t>
            </a:r>
          </a:p>
        </p:txBody>
      </p:sp>
      <p:sp>
        <p:nvSpPr>
          <p:cNvPr id="27" name="TextBox 26"/>
          <p:cNvSpPr txBox="1"/>
          <p:nvPr/>
        </p:nvSpPr>
        <p:spPr>
          <a:xfrm rot="21510000">
            <a:off x="7516368" y="5010912"/>
            <a:ext cx="1837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Ayush
2410993139</a:t>
            </a:r>
          </a:p>
        </p:txBody>
      </p:sp>
      <p:sp>
        <p:nvSpPr>
          <p:cNvPr id="28" name="Rectangle 27"/>
          <p:cNvSpPr/>
          <p:nvPr/>
        </p:nvSpPr>
        <p:spPr>
          <a:xfrm rot="2310000">
            <a:off x="8078724" y="314553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50000">
            <a:off x="9692640" y="3246120"/>
            <a:ext cx="20574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150000">
            <a:off x="9802368" y="3355848"/>
            <a:ext cx="1837944" cy="1609344"/>
          </a:xfrm>
          <a:prstGeom prst="rect">
            <a:avLst/>
          </a:prstGeom>
          <a:solidFill>
            <a:srgbClr val="EC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8" y="3597249"/>
            <a:ext cx="18379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07A5A"/>
                </a:solidFill>
                <a:latin typeface="Playfair Display"/>
              </a:rPr>
              <a:t>PR</a:t>
            </a:r>
          </a:p>
        </p:txBody>
      </p:sp>
      <p:sp>
        <p:nvSpPr>
          <p:cNvPr id="32" name="TextBox 31"/>
          <p:cNvSpPr txBox="1"/>
          <p:nvPr/>
        </p:nvSpPr>
        <p:spPr>
          <a:xfrm rot="150000">
            <a:off x="9802368" y="5010912"/>
            <a:ext cx="1837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Pranav
2410992960</a:t>
            </a:r>
          </a:p>
        </p:txBody>
      </p:sp>
      <p:sp>
        <p:nvSpPr>
          <p:cNvPr id="33" name="Rectangle 32"/>
          <p:cNvSpPr/>
          <p:nvPr/>
        </p:nvSpPr>
        <p:spPr>
          <a:xfrm rot="2550000">
            <a:off x="10364724" y="314553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[Mentor / Faculty Name]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01 /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5720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510000">
            <a:off x="548640" y="1554480"/>
            <a:ext cx="822960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510000">
            <a:off x="658368" y="1664208"/>
            <a:ext cx="8010144" cy="4078224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55648"/>
            <a:ext cx="28035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Work Sans"/>
              </a:rPr>
              <a:t>Student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28035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Work Sans"/>
              </a:rPr>
              <a:t>Academic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96896"/>
            <a:ext cx="28035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Work Sans"/>
              </a:rPr>
              <a:t>Skills &amp; 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8035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Work Sans"/>
              </a:rPr>
              <a:t>Resume (PDF/DOCX)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28035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Work Sans"/>
              </a:rPr>
              <a:t>Target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2121" y="309158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4A03C"/>
                </a:solidFill>
                <a:latin typeface="Playfair Display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2628" y="1938528"/>
            <a:ext cx="2002536" cy="3529584"/>
          </a:xfrm>
          <a:prstGeom prst="roundRect">
            <a:avLst/>
          </a:prstGeom>
          <a:solidFill>
            <a:srgbClr val="F0ECE4"/>
          </a:solidFill>
          <a:ln w="15240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2729" y="2029968"/>
            <a:ext cx="1842333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Azure AI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Foundry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+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Campus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Placement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Agent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+</a:t>
            </a:r>
          </a:p>
          <a:p>
            <a:pPr algn="ctr"/>
            <a:r>
              <a:rPr sz="850" b="1" i="0">
                <a:solidFill>
                  <a:srgbClr val="C07A5A"/>
                </a:solidFill>
                <a:latin typeface="Playfair Display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367" y="321393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773" y="1801368"/>
            <a:ext cx="2002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7A5A"/>
                </a:solidFill>
                <a:latin typeface="Work Sans"/>
              </a:rPr>
              <a:t>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773" y="2331720"/>
            <a:ext cx="2002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A3A3A"/>
                </a:solidFill>
                <a:latin typeface="Work Sans"/>
              </a:rPr>
              <a:t>Skill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773" y="2862072"/>
            <a:ext cx="2002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Work Sans"/>
              </a:rPr>
              <a:t>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773" y="3392424"/>
            <a:ext cx="2002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7A5A"/>
                </a:solidFill>
                <a:latin typeface="Work Sans"/>
              </a:rPr>
              <a:t>AI Assistant</a:t>
            </a:r>
          </a:p>
        </p:txBody>
      </p:sp>
      <p:sp>
        <p:nvSpPr>
          <p:cNvPr id="22" name="TextBox 21"/>
          <p:cNvSpPr txBox="1"/>
          <p:nvPr/>
        </p:nvSpPr>
        <p:spPr>
          <a:xfrm rot="21510000">
            <a:off x="658368" y="5788152"/>
            <a:ext cx="8010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profile · resume · AI · intelligence</a:t>
            </a:r>
          </a:p>
        </p:txBody>
      </p:sp>
      <p:sp>
        <p:nvSpPr>
          <p:cNvPr id="23" name="Rectangle 22"/>
          <p:cNvSpPr/>
          <p:nvPr/>
        </p:nvSpPr>
        <p:spPr>
          <a:xfrm rot="2310000">
            <a:off x="4306824" y="145389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A7367"/>
                </a:solidFill>
                <a:latin typeface="Work Sans"/>
              </a:rPr>
              <a:t>KEY ATTRIBUTES</a:t>
            </a:r>
          </a:p>
        </p:txBody>
      </p:sp>
      <p:sp>
        <p:nvSpPr>
          <p:cNvPr id="25" name="Rectangle 24"/>
          <p:cNvSpPr/>
          <p:nvPr/>
        </p:nvSpPr>
        <p:spPr>
          <a:xfrm rot="90000">
            <a:off x="9052560" y="1874519"/>
            <a:ext cx="2743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90000">
            <a:off x="9162288" y="1984247"/>
            <a:ext cx="2523744" cy="374904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 rot="90000">
            <a:off x="9162288" y="2404871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Knowledge-Grounded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A7A5A"/>
                </a:solidFill>
                <a:latin typeface="Playfair Display"/>
              </a:rPr>
              <a:t>Knowledge-Grounded</a:t>
            </a:r>
          </a:p>
        </p:txBody>
      </p:sp>
      <p:sp>
        <p:nvSpPr>
          <p:cNvPr id="29" name="Rectangle 28"/>
          <p:cNvSpPr/>
          <p:nvPr/>
        </p:nvSpPr>
        <p:spPr>
          <a:xfrm rot="21510000">
            <a:off x="9052560" y="2926079"/>
            <a:ext cx="2743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510000">
            <a:off x="9162288" y="3035807"/>
            <a:ext cx="2523744" cy="374904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 rot="21510000">
            <a:off x="9162288" y="3456431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Personalised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0632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07A5A"/>
                </a:solidFill>
                <a:latin typeface="Playfair Display"/>
              </a:rPr>
              <a:t>Personalised</a:t>
            </a:r>
          </a:p>
        </p:txBody>
      </p:sp>
      <p:sp>
        <p:nvSpPr>
          <p:cNvPr id="33" name="Rectangle 32"/>
          <p:cNvSpPr/>
          <p:nvPr/>
        </p:nvSpPr>
        <p:spPr>
          <a:xfrm rot="90000">
            <a:off x="9052560" y="3977639"/>
            <a:ext cx="2743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90000">
            <a:off x="9162288" y="4087367"/>
            <a:ext cx="2523744" cy="374904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 rot="90000">
            <a:off x="9162288" y="4507991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Centralized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114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A5A8A"/>
                </a:solidFill>
                <a:latin typeface="Playfair Display"/>
              </a:rPr>
              <a:t>Centralized</a:t>
            </a:r>
          </a:p>
        </p:txBody>
      </p:sp>
      <p:sp>
        <p:nvSpPr>
          <p:cNvPr id="37" name="Rectangle 36"/>
          <p:cNvSpPr/>
          <p:nvPr/>
        </p:nvSpPr>
        <p:spPr>
          <a:xfrm rot="21510000">
            <a:off x="9052560" y="5029199"/>
            <a:ext cx="2743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510000">
            <a:off x="9162288" y="5138927"/>
            <a:ext cx="2523744" cy="374904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 rot="21510000">
            <a:off x="9162288" y="5559551"/>
            <a:ext cx="2523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Context-Aware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166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4A8A8A"/>
                </a:solidFill>
                <a:latin typeface="Playfair Display"/>
              </a:rPr>
              <a:t>Context-Aware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02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03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A5A"/>
                </a:solidFill>
                <a:latin typeface="Work San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114800" cy="1905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">
            <a:off x="457200" y="164592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">
            <a:off x="566928" y="1755648"/>
            <a:ext cx="3346704" cy="1563624"/>
          </a:xfrm>
          <a:prstGeom prst="rect">
            <a:avLst/>
          </a:prstGeom>
          <a:solidFill>
            <a:srgbClr val="FB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Information</a:t>
            </a:r>
          </a:p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Fragmentation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505456"/>
            <a:ext cx="316382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24328"/>
            <a:ext cx="316382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Placement criteria scattered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across notices, PDFs &amp; portals</a:t>
            </a:r>
          </a:p>
        </p:txBody>
      </p:sp>
      <p:sp>
        <p:nvSpPr>
          <p:cNvPr id="12" name="Rectangle 11"/>
          <p:cNvSpPr/>
          <p:nvPr/>
        </p:nvSpPr>
        <p:spPr>
          <a:xfrm rot="2520000">
            <a:off x="1883664" y="154533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450000">
            <a:off x="4297680" y="164592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50000">
            <a:off x="4407408" y="1755648"/>
            <a:ext cx="3346704" cy="1563624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828800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Manual</a:t>
            </a:r>
          </a:p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Comparison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8848" y="2505456"/>
            <a:ext cx="316382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624328"/>
            <a:ext cx="316382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Students manually match profile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vs. eligibility criteria</a:t>
            </a:r>
          </a:p>
        </p:txBody>
      </p:sp>
      <p:sp>
        <p:nvSpPr>
          <p:cNvPr id="18" name="Rectangle 17"/>
          <p:cNvSpPr/>
          <p:nvPr/>
        </p:nvSpPr>
        <p:spPr>
          <a:xfrm rot="2250000">
            <a:off x="5724144" y="154533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120000">
            <a:off x="8138160" y="164592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120000">
            <a:off x="8247888" y="1755648"/>
            <a:ext cx="3346704" cy="1563624"/>
          </a:xfrm>
          <a:prstGeom prst="rect">
            <a:avLst/>
          </a:prstGeom>
          <a:solidFill>
            <a:srgbClr val="FB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828800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No</a:t>
            </a:r>
          </a:p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Personalization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9328" y="2505456"/>
            <a:ext cx="316382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2624328"/>
            <a:ext cx="316382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Generic advice not tailored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to individual profiles</a:t>
            </a:r>
          </a:p>
        </p:txBody>
      </p:sp>
      <p:sp>
        <p:nvSpPr>
          <p:cNvPr id="24" name="Rectangle 23"/>
          <p:cNvSpPr/>
          <p:nvPr/>
        </p:nvSpPr>
        <p:spPr>
          <a:xfrm rot="2520000">
            <a:off x="9564624" y="154533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1480000">
            <a:off x="457200" y="40233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480000">
            <a:off x="566928" y="4133088"/>
            <a:ext cx="3346704" cy="1563624"/>
          </a:xfrm>
          <a:prstGeom prst="rect">
            <a:avLst/>
          </a:prstGeom>
          <a:solidFill>
            <a:srgbClr val="FB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06240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Unclear</a:t>
            </a:r>
          </a:p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Skill Gaps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82896"/>
            <a:ext cx="316382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001768"/>
            <a:ext cx="316382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No clear view of missing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vs. possessed skills</a:t>
            </a:r>
          </a:p>
        </p:txBody>
      </p:sp>
      <p:sp>
        <p:nvSpPr>
          <p:cNvPr id="30" name="Rectangle 29"/>
          <p:cNvSpPr/>
          <p:nvPr/>
        </p:nvSpPr>
        <p:spPr>
          <a:xfrm rot="2280000">
            <a:off x="1883664" y="392277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50000">
            <a:off x="4297680" y="40233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50000">
            <a:off x="4407408" y="4133088"/>
            <a:ext cx="3346704" cy="1563624"/>
          </a:xfrm>
          <a:prstGeom prst="rect">
            <a:avLst/>
          </a:prstGeom>
          <a:solidFill>
            <a:srgbClr val="F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206240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Resume</a:t>
            </a:r>
          </a:p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Misalignment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98848" y="4882896"/>
            <a:ext cx="316382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5001768"/>
            <a:ext cx="316382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Resume not matched to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specific role requirements</a:t>
            </a:r>
          </a:p>
        </p:txBody>
      </p:sp>
      <p:sp>
        <p:nvSpPr>
          <p:cNvPr id="36" name="Rectangle 35"/>
          <p:cNvSpPr/>
          <p:nvPr/>
        </p:nvSpPr>
        <p:spPr>
          <a:xfrm rot="2550000">
            <a:off x="5724144" y="392277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1510000">
            <a:off x="8138160" y="40233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510000">
            <a:off x="8247888" y="4133088"/>
            <a:ext cx="3346704" cy="1563624"/>
          </a:xfrm>
          <a:prstGeom prst="rect">
            <a:avLst/>
          </a:prstGeom>
          <a:solidFill>
            <a:srgbClr val="FB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8" y="4206240"/>
            <a:ext cx="3163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No Central</a:t>
            </a:r>
          </a:p>
          <a:p>
            <a:pPr algn="l"/>
            <a:r>
              <a:rPr sz="1300" b="1" i="0">
                <a:solidFill>
                  <a:srgbClr val="C07A5A"/>
                </a:solidFill>
                <a:latin typeface="Playfair Display"/>
              </a:rPr>
              <a:t>Intelligence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39328" y="4882896"/>
            <a:ext cx="316382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5001768"/>
            <a:ext cx="3163824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No unified platform combining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profile, resume, and guidance</a:t>
            </a:r>
          </a:p>
        </p:txBody>
      </p:sp>
      <p:sp>
        <p:nvSpPr>
          <p:cNvPr id="42" name="Rectangle 41"/>
          <p:cNvSpPr/>
          <p:nvPr/>
        </p:nvSpPr>
        <p:spPr>
          <a:xfrm rot="2310000">
            <a:off x="9564624" y="392277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02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A5A"/>
                </a:solidFill>
                <a:latin typeface="Work San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Existing Approach vs 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943600" cy="1905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57200" y="164592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66928" y="1755648"/>
            <a:ext cx="4809744" cy="4261104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1480000">
            <a:off x="658368" y="1801368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47088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Search eligibility documents</a:t>
            </a:r>
          </a:p>
        </p:txBody>
      </p:sp>
      <p:sp>
        <p:nvSpPr>
          <p:cNvPr id="11" name="Rectangle 10"/>
          <p:cNvSpPr/>
          <p:nvPr/>
        </p:nvSpPr>
        <p:spPr>
          <a:xfrm rot="21480000">
            <a:off x="2926080" y="2272937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21480000">
            <a:off x="658368" y="2410097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455817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Read PDFs / notices manually</a:t>
            </a:r>
          </a:p>
        </p:txBody>
      </p:sp>
      <p:sp>
        <p:nvSpPr>
          <p:cNvPr id="14" name="Rectangle 13"/>
          <p:cNvSpPr/>
          <p:nvPr/>
        </p:nvSpPr>
        <p:spPr>
          <a:xfrm rot="21480000">
            <a:off x="2926080" y="2881666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1480000">
            <a:off x="658368" y="3018826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64546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Compare CGPA &amp; backlog criteria</a:t>
            </a:r>
          </a:p>
        </p:txBody>
      </p:sp>
      <p:sp>
        <p:nvSpPr>
          <p:cNvPr id="17" name="Rectangle 16"/>
          <p:cNvSpPr/>
          <p:nvPr/>
        </p:nvSpPr>
        <p:spPr>
          <a:xfrm rot="21480000">
            <a:off x="2926080" y="3490395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 rot="21480000">
            <a:off x="658368" y="3627555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673275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Check skills vs. job description</a:t>
            </a:r>
          </a:p>
        </p:txBody>
      </p:sp>
      <p:sp>
        <p:nvSpPr>
          <p:cNvPr id="20" name="Rectangle 19"/>
          <p:cNvSpPr/>
          <p:nvPr/>
        </p:nvSpPr>
        <p:spPr>
          <a:xfrm rot="21480000">
            <a:off x="2926080" y="4099124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 rot="21480000">
            <a:off x="658368" y="4236284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282004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Read resume (no role context)</a:t>
            </a:r>
          </a:p>
        </p:txBody>
      </p:sp>
      <p:sp>
        <p:nvSpPr>
          <p:cNvPr id="23" name="Rectangle 22"/>
          <p:cNvSpPr/>
          <p:nvPr/>
        </p:nvSpPr>
        <p:spPr>
          <a:xfrm rot="21480000">
            <a:off x="2926080" y="4707853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21480000">
            <a:off x="658368" y="4845013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890733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Find generic preparation tips</a:t>
            </a:r>
          </a:p>
        </p:txBody>
      </p:sp>
      <p:sp>
        <p:nvSpPr>
          <p:cNvPr id="26" name="Rectangle 25"/>
          <p:cNvSpPr/>
          <p:nvPr/>
        </p:nvSpPr>
        <p:spPr>
          <a:xfrm rot="21480000">
            <a:off x="2926080" y="5316582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 rot="21480000">
            <a:off x="658368" y="5453742"/>
            <a:ext cx="4626864" cy="4990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5499462"/>
            <a:ext cx="4535424" cy="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7A5A"/>
                </a:solidFill>
                <a:latin typeface="Work Sans"/>
              </a:rPr>
              <a:t>Prepare without gap analysis</a:t>
            </a:r>
          </a:p>
        </p:txBody>
      </p:sp>
      <p:sp>
        <p:nvSpPr>
          <p:cNvPr id="29" name="TextBox 28"/>
          <p:cNvSpPr txBox="1"/>
          <p:nvPr/>
        </p:nvSpPr>
        <p:spPr>
          <a:xfrm rot="21480000">
            <a:off x="566928" y="6062472"/>
            <a:ext cx="48097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conventional approach</a:t>
            </a:r>
          </a:p>
        </p:txBody>
      </p:sp>
      <p:sp>
        <p:nvSpPr>
          <p:cNvPr id="30" name="Rectangle 29"/>
          <p:cNvSpPr/>
          <p:nvPr/>
        </p:nvSpPr>
        <p:spPr>
          <a:xfrm rot="2280000">
            <a:off x="2615184" y="154533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4173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7A5A"/>
                </a:solidFill>
                <a:latin typeface="Playfair Display"/>
              </a:rPr>
              <a:t>TODAY</a:t>
            </a:r>
          </a:p>
        </p:txBody>
      </p:sp>
      <p:sp>
        <p:nvSpPr>
          <p:cNvPr id="32" name="Rectangle 31"/>
          <p:cNvSpPr/>
          <p:nvPr/>
        </p:nvSpPr>
        <p:spPr>
          <a:xfrm rot="120000">
            <a:off x="6492240" y="1645920"/>
            <a:ext cx="521208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20000">
            <a:off x="6601968" y="1755648"/>
            <a:ext cx="4992624" cy="4261104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 rot="120000">
            <a:off x="6693408" y="1801368"/>
            <a:ext cx="4809744" cy="600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9128" y="1847088"/>
            <a:ext cx="4718304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7A5A"/>
                </a:solidFill>
                <a:latin typeface="Work Sans"/>
              </a:rPr>
              <a:t>Build student profile</a:t>
            </a:r>
          </a:p>
        </p:txBody>
      </p:sp>
      <p:sp>
        <p:nvSpPr>
          <p:cNvPr id="36" name="Rectangle 35"/>
          <p:cNvSpPr/>
          <p:nvPr/>
        </p:nvSpPr>
        <p:spPr>
          <a:xfrm rot="120000">
            <a:off x="9052560" y="2374392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 rot="120000">
            <a:off x="6693408" y="2511552"/>
            <a:ext cx="4809744" cy="600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9128" y="2557272"/>
            <a:ext cx="4718304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7A5A"/>
                </a:solidFill>
                <a:latin typeface="Work Sans"/>
              </a:rPr>
              <a:t>Upload resume</a:t>
            </a:r>
          </a:p>
        </p:txBody>
      </p:sp>
      <p:sp>
        <p:nvSpPr>
          <p:cNvPr id="39" name="Rectangle 38"/>
          <p:cNvSpPr/>
          <p:nvPr/>
        </p:nvSpPr>
        <p:spPr>
          <a:xfrm rot="120000">
            <a:off x="9052560" y="3084576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120000">
            <a:off x="6693408" y="3221736"/>
            <a:ext cx="4809744" cy="600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9128" y="3267456"/>
            <a:ext cx="4718304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7A5A"/>
                </a:solidFill>
                <a:latin typeface="Work Sans"/>
              </a:rPr>
              <a:t>Select target company + role</a:t>
            </a:r>
          </a:p>
        </p:txBody>
      </p:sp>
      <p:sp>
        <p:nvSpPr>
          <p:cNvPr id="42" name="Rectangle 41"/>
          <p:cNvSpPr/>
          <p:nvPr/>
        </p:nvSpPr>
        <p:spPr>
          <a:xfrm rot="120000">
            <a:off x="9052560" y="3794760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 rot="120000">
            <a:off x="6693408" y="3931920"/>
            <a:ext cx="4809744" cy="600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9128" y="3977640"/>
            <a:ext cx="4718304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7A5A"/>
                </a:solidFill>
                <a:latin typeface="Work Sans"/>
              </a:rPr>
              <a:t>AI Foundry + RAG analysis</a:t>
            </a:r>
          </a:p>
        </p:txBody>
      </p:sp>
      <p:sp>
        <p:nvSpPr>
          <p:cNvPr id="45" name="Rectangle 44"/>
          <p:cNvSpPr/>
          <p:nvPr/>
        </p:nvSpPr>
        <p:spPr>
          <a:xfrm rot="120000">
            <a:off x="9052560" y="4504944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 rot="120000">
            <a:off x="6693408" y="4642104"/>
            <a:ext cx="4809744" cy="600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39128" y="4687824"/>
            <a:ext cx="4718304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7A5A"/>
                </a:solidFill>
                <a:latin typeface="Work Sans"/>
              </a:rPr>
              <a:t>Eligibility · Skill Gap · Plan</a:t>
            </a:r>
          </a:p>
        </p:txBody>
      </p:sp>
      <p:sp>
        <p:nvSpPr>
          <p:cNvPr id="48" name="Rectangle 47"/>
          <p:cNvSpPr/>
          <p:nvPr/>
        </p:nvSpPr>
        <p:spPr>
          <a:xfrm rot="120000">
            <a:off x="9052560" y="5215128"/>
            <a:ext cx="91440" cy="109728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 rot="120000">
            <a:off x="6693408" y="5352288"/>
            <a:ext cx="4809744" cy="600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39128" y="5398008"/>
            <a:ext cx="4718304" cy="573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7A5A"/>
                </a:solidFill>
                <a:latin typeface="Work Sans"/>
              </a:rPr>
              <a:t>AI Placement Assistant</a:t>
            </a:r>
          </a:p>
        </p:txBody>
      </p:sp>
      <p:sp>
        <p:nvSpPr>
          <p:cNvPr id="51" name="TextBox 50"/>
          <p:cNvSpPr txBox="1"/>
          <p:nvPr/>
        </p:nvSpPr>
        <p:spPr>
          <a:xfrm rot="120000">
            <a:off x="6601968" y="6062472"/>
            <a:ext cx="49926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campus placement ai</a:t>
            </a:r>
          </a:p>
        </p:txBody>
      </p:sp>
      <p:sp>
        <p:nvSpPr>
          <p:cNvPr id="52" name="Rectangle 51"/>
          <p:cNvSpPr/>
          <p:nvPr/>
        </p:nvSpPr>
        <p:spPr>
          <a:xfrm rot="2520000">
            <a:off x="8741664" y="154533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1417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7A5A"/>
                </a:solidFill>
                <a:latin typeface="Playfair Display"/>
              </a:rPr>
              <a:t>OUR APPROACH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3520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4A03C"/>
                </a:solidFill>
                <a:latin typeface="Playfair Display"/>
              </a:rPr>
              <a:t>VS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93792" y="443484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7A5A"/>
                </a:solidFill>
                <a:latin typeface="Work Sans"/>
              </a:rPr>
              <a:t>CENTRALISED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93792" y="487375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7A5A"/>
                </a:solidFill>
                <a:latin typeface="Work Sans"/>
              </a:rPr>
              <a:t>GROUNDED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93792" y="5312664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A7A5A"/>
                </a:solidFill>
                <a:latin typeface="Work Sans"/>
              </a:rPr>
              <a:t>PERSONALISED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03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7A5A"/>
                </a:solidFill>
                <a:latin typeface="Work Sans"/>
              </a:rPr>
              <a:t>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Campus Placement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6400800" cy="2540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11480" y="1691640"/>
            <a:ext cx="27889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21208" y="1801368"/>
            <a:ext cx="2569464" cy="156362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A5A8A"/>
                </a:solidFill>
                <a:latin typeface="Playfair Display"/>
              </a:rPr>
              <a:t>Profile</a:t>
            </a:r>
          </a:p>
          <a:p>
            <a:pPr algn="l"/>
            <a:r>
              <a:rPr sz="1350" b="1" i="0">
                <a:solidFill>
                  <a:srgbClr val="3A5A8A"/>
                </a:solidFill>
                <a:latin typeface="Playfair Display"/>
              </a:rPr>
              <a:t>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51176"/>
            <a:ext cx="2423160" cy="9525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7004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Academic · Skills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Projects · Certs</a:t>
            </a:r>
          </a:p>
        </p:txBody>
      </p:sp>
      <p:sp>
        <p:nvSpPr>
          <p:cNvPr id="12" name="Rectangle 11"/>
          <p:cNvSpPr/>
          <p:nvPr/>
        </p:nvSpPr>
        <p:spPr>
          <a:xfrm rot="2280000">
            <a:off x="1449324" y="159105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51460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 rot="120000">
            <a:off x="3355848" y="1691640"/>
            <a:ext cx="27889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20000">
            <a:off x="3465576" y="1801368"/>
            <a:ext cx="2569464" cy="156362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89280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A7A5A"/>
                </a:solidFill>
                <a:latin typeface="Playfair Display"/>
              </a:rPr>
              <a:t>Resume</a:t>
            </a:r>
          </a:p>
          <a:p>
            <a:pPr algn="l"/>
            <a:r>
              <a:rPr sz="1350" b="1" i="0">
                <a:solidFill>
                  <a:srgbClr val="3A7A5A"/>
                </a:solidFill>
                <a:latin typeface="Playfair Display"/>
              </a:rPr>
              <a:t>Intelligence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8728" y="2551176"/>
            <a:ext cx="2423160" cy="9525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67004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PDF / DOCX parsing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Text extraction</a:t>
            </a:r>
          </a:p>
        </p:txBody>
      </p:sp>
      <p:sp>
        <p:nvSpPr>
          <p:cNvPr id="19" name="Rectangle 18"/>
          <p:cNvSpPr/>
          <p:nvPr/>
        </p:nvSpPr>
        <p:spPr>
          <a:xfrm rot="2520000">
            <a:off x="4393692" y="159105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51460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 rot="21450000">
            <a:off x="6300216" y="1691640"/>
            <a:ext cx="27889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1450000">
            <a:off x="6409944" y="1801368"/>
            <a:ext cx="2569464" cy="156362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189280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C07A5A"/>
                </a:solidFill>
                <a:latin typeface="Playfair Display"/>
              </a:rPr>
              <a:t>Knowledge</a:t>
            </a:r>
          </a:p>
          <a:p>
            <a:pPr algn="l"/>
            <a:r>
              <a:rPr sz="1350" b="1" i="0">
                <a:solidFill>
                  <a:srgbClr val="C07A5A"/>
                </a:solidFill>
                <a:latin typeface="Playfair Display"/>
              </a:rPr>
              <a:t>Grounded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3096" y="2551176"/>
            <a:ext cx="2423160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267004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Azure AI Foundry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RAG · gpt-4.1-mini</a:t>
            </a:r>
          </a:p>
        </p:txBody>
      </p:sp>
      <p:sp>
        <p:nvSpPr>
          <p:cNvPr id="26" name="Rectangle 25"/>
          <p:cNvSpPr/>
          <p:nvPr/>
        </p:nvSpPr>
        <p:spPr>
          <a:xfrm rot="2250000">
            <a:off x="7338060" y="159105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51460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 rot="120000">
            <a:off x="9244584" y="1691640"/>
            <a:ext cx="278892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20000">
            <a:off x="9354312" y="1801368"/>
            <a:ext cx="2569464" cy="156362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4" y="189280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A5A8A"/>
                </a:solidFill>
                <a:latin typeface="Playfair Display"/>
              </a:rPr>
              <a:t>Personalised</a:t>
            </a:r>
          </a:p>
          <a:p>
            <a:pPr algn="l"/>
            <a:r>
              <a:rPr sz="1350" b="1" i="0">
                <a:solidFill>
                  <a:srgbClr val="3A5A8A"/>
                </a:solidFill>
                <a:latin typeface="Playfair Display"/>
              </a:rPr>
              <a:t>Outputs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27464" y="2551176"/>
            <a:ext cx="2423160" cy="9525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267004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Eligibility · Gap</a:t>
            </a:r>
          </a:p>
          <a:p>
            <a:pPr algn="l"/>
            <a:r>
              <a:rPr sz="1050" b="0" i="0">
                <a:solidFill>
                  <a:srgbClr val="7A7367"/>
                </a:solidFill>
                <a:latin typeface="Work Sans"/>
              </a:rPr>
              <a:t>Prep · AI Chat</a:t>
            </a:r>
          </a:p>
        </p:txBody>
      </p:sp>
      <p:sp>
        <p:nvSpPr>
          <p:cNvPr id="33" name="Rectangle 32"/>
          <p:cNvSpPr/>
          <p:nvPr/>
        </p:nvSpPr>
        <p:spPr>
          <a:xfrm rot="2520000">
            <a:off x="10282428" y="159105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1480" y="4069080"/>
            <a:ext cx="27889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" y="414223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01  Eligibility Intelligence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55848" y="4069080"/>
            <a:ext cx="27889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65576" y="414223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02  Skill Gap Intelligence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0216" y="4069080"/>
            <a:ext cx="27889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414223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7A5A"/>
                </a:solidFill>
                <a:latin typeface="Playfair Display"/>
              </a:rPr>
              <a:t>03  Personalized Preparation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44584" y="4069080"/>
            <a:ext cx="27889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8A8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54312" y="4142232"/>
            <a:ext cx="2578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8A8A"/>
                </a:solidFill>
                <a:latin typeface="Playfair Display"/>
              </a:rPr>
              <a:t>04  AI Placement Assistant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8006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367"/>
                </a:solidFill>
                <a:latin typeface="Work Sans"/>
              </a:rPr>
              <a:t>NEVER guarantees selection  ·  Distinguishes missing info from confirmed gaps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03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WHAT WE SET OUT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5720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Centralise student placement information in one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44144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0" y="1874520"/>
            <a:ext cx="411480" cy="411480"/>
          </a:xfrm>
          <a:prstGeom prst="ellipse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0136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Provide knowledge-grounded AI assistance via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244144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9864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Analyse eligibility for target company &amp;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53872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9360" y="2971800"/>
            <a:ext cx="411480" cy="411480"/>
          </a:xfrm>
          <a:prstGeom prst="ellipse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971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89864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Distinguish: SATISFIED · INFO MISSING · CONFIRMED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353872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4069080"/>
            <a:ext cx="411480" cy="411480"/>
          </a:xfrm>
          <a:prstGeom prst="ellipse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9592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Parse uploaded resumes (PDF/DOCX) into AI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63600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4069080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069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99592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Generate personalised, gap-focused preparation guidance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463600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5166360"/>
            <a:ext cx="411480" cy="411480"/>
          </a:xfrm>
          <a:prstGeom prst="ellipse">
            <a:avLst/>
          </a:prstGeom>
          <a:solidFill>
            <a:srgbClr val="4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66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VII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9320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Provide interactive AI assistant with conversation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573328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09360" y="5166360"/>
            <a:ext cx="411480" cy="411480"/>
          </a:xfrm>
          <a:prstGeom prst="ellipse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166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VIII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093208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352E"/>
                </a:solidFill>
                <a:latin typeface="Work Sans"/>
              </a:rPr>
              <a:t>Create a scalable foundation for future placement intelligence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5733288"/>
            <a:ext cx="5166360" cy="635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03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WHO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Target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36576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11480" y="1600200"/>
            <a:ext cx="3703320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21208" y="1709928"/>
            <a:ext cx="3483864" cy="4215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55648"/>
            <a:ext cx="3300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5A8A"/>
                </a:solidFill>
                <a:latin typeface="Playfair Display"/>
              </a:rP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68296"/>
            <a:ext cx="3300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PRIMARY  ·  IMPLEMENTED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642616"/>
            <a:ext cx="3300984" cy="9525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Build complete placement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91256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Upload resume for AI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621024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Check eligibility per criterion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050792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Identify confirmed skill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480560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Get phase-based prep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910328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Ask AI placement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340096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Full conversation history</a:t>
            </a:r>
          </a:p>
        </p:txBody>
      </p:sp>
      <p:sp>
        <p:nvSpPr>
          <p:cNvPr id="19" name="TextBox 18"/>
          <p:cNvSpPr txBox="1"/>
          <p:nvPr/>
        </p:nvSpPr>
        <p:spPr>
          <a:xfrm rot="21480000">
            <a:off x="521208" y="597103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PRIMARY  ·  IMPLEMENTED</a:t>
            </a:r>
          </a:p>
        </p:txBody>
      </p:sp>
      <p:sp>
        <p:nvSpPr>
          <p:cNvPr id="20" name="Rectangle 19"/>
          <p:cNvSpPr/>
          <p:nvPr/>
        </p:nvSpPr>
        <p:spPr>
          <a:xfrm rot="2280000">
            <a:off x="1906524" y="149961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20000">
            <a:off x="4343400" y="1600200"/>
            <a:ext cx="3703320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20000">
            <a:off x="4453128" y="1709928"/>
            <a:ext cx="3483864" cy="4215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1755648"/>
            <a:ext cx="3300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7A5A"/>
                </a:solidFill>
                <a:latin typeface="Playfair Display"/>
              </a:rPr>
              <a:t>Placement</a:t>
            </a:r>
          </a:p>
          <a:p>
            <a:pPr algn="l"/>
            <a:r>
              <a:rPr sz="1500" b="1" i="0">
                <a:solidFill>
                  <a:srgbClr val="3A7A5A"/>
                </a:solidFill>
                <a:latin typeface="Playfair Display"/>
              </a:rPr>
              <a:t>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368296"/>
            <a:ext cx="3300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SECONDARY  ·  FUTURE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44568" y="2642616"/>
            <a:ext cx="3300984" cy="9525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2761488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Manage RAG knowledge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191256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Guide students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621024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Cohort readiness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050792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Reduce manual counselling</a:t>
            </a:r>
          </a:p>
        </p:txBody>
      </p:sp>
      <p:sp>
        <p:nvSpPr>
          <p:cNvPr id="30" name="TextBox 29"/>
          <p:cNvSpPr txBox="1"/>
          <p:nvPr/>
        </p:nvSpPr>
        <p:spPr>
          <a:xfrm rot="120000">
            <a:off x="4453128" y="597103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SECONDARY  ·  FUTURE SCOPE</a:t>
            </a:r>
          </a:p>
        </p:txBody>
      </p:sp>
      <p:sp>
        <p:nvSpPr>
          <p:cNvPr id="31" name="Rectangle 30"/>
          <p:cNvSpPr/>
          <p:nvPr/>
        </p:nvSpPr>
        <p:spPr>
          <a:xfrm rot="2520000">
            <a:off x="5838444" y="14996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1450000">
            <a:off x="8275320" y="1600200"/>
            <a:ext cx="3703320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21450000">
            <a:off x="8385048" y="1709928"/>
            <a:ext cx="3483864" cy="4215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1755648"/>
            <a:ext cx="33009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7A5A"/>
                </a:solidFill>
                <a:latin typeface="Playfair Display"/>
              </a:rPr>
              <a:t>Recruiters /</a:t>
            </a:r>
          </a:p>
          <a:p>
            <a:pPr algn="l"/>
            <a:r>
              <a:rPr sz="1500" b="1" i="0">
                <a:solidFill>
                  <a:srgbClr val="C07A5A"/>
                </a:solidFill>
                <a:latin typeface="Playfair Display"/>
              </a:rPr>
              <a:t>Companies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2368296"/>
            <a:ext cx="3300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FUTURE SCOPE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6488" y="2642616"/>
            <a:ext cx="3300984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2761488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Upload role requirements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3191256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Candidate-role matching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3621024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Structured hiring 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4050792"/>
            <a:ext cx="3300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— not yet implemented —</a:t>
            </a:r>
          </a:p>
        </p:txBody>
      </p:sp>
      <p:sp>
        <p:nvSpPr>
          <p:cNvPr id="41" name="TextBox 40"/>
          <p:cNvSpPr txBox="1"/>
          <p:nvPr/>
        </p:nvSpPr>
        <p:spPr>
          <a:xfrm rot="21450000">
            <a:off x="8385048" y="597103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FUTURE SCOPE ONLY</a:t>
            </a:r>
          </a:p>
        </p:txBody>
      </p:sp>
      <p:sp>
        <p:nvSpPr>
          <p:cNvPr id="42" name="Rectangle 41"/>
          <p:cNvSpPr/>
          <p:nvPr/>
        </p:nvSpPr>
        <p:spPr>
          <a:xfrm rot="2250000">
            <a:off x="9770364" y="149961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04 /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End-to-End User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64008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2103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6420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A5A8A"/>
                </a:solidFill>
                <a:latin typeface="Playfair Display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7373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600200"/>
            <a:ext cx="2103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66420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A5A8A"/>
                </a:solidFill>
                <a:latin typeface="Playfair Display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17373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1600200"/>
            <a:ext cx="2103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8A8A"/>
            </a:solidFill>
          </a:ln>
          <a:effectLst>
            <a:outerShdw blurRad="50800" dist="38100" dir="2700000" algn="tl" rotWithShape="0">
              <a:srgbClr val="3A35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166420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A8A8A"/>
                </a:solidFill>
                <a:latin typeface="Playfair Display"/>
              </a:rPr>
              <a:t>BUILD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17373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88936" y="1600200"/>
            <a:ext cx="2103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166420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07A5A"/>
                </a:solidFill>
                <a:latin typeface="Playfair Display"/>
              </a:rPr>
              <a:t>UPLOAD RESUME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2056" y="173736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48088" y="1600200"/>
            <a:ext cx="21031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66420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A7A5A"/>
                </a:solidFill>
                <a:latin typeface="Playfair Display"/>
              </a:rPr>
              <a:t>SELECT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860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4A03C"/>
                </a:solidFill>
                <a:latin typeface="Playfair Display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2788920"/>
            <a:ext cx="66751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28620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7A5A"/>
                </a:solidFill>
                <a:latin typeface="Playfair Display"/>
              </a:rPr>
              <a:t>RUN ANALYSIS  ·  POST /api/analysis/{type}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493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7A5A"/>
                </a:solidFill>
                <a:latin typeface="Playfair Display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3977639"/>
            <a:ext cx="8229600" cy="713232"/>
          </a:xfrm>
          <a:prstGeom prst="roundRect">
            <a:avLst/>
          </a:prstGeom>
          <a:solidFill>
            <a:srgbClr val="FDF8F2"/>
          </a:solidFill>
          <a:ln w="25400">
            <a:solidFill>
              <a:srgbClr val="C4A03C"/>
            </a:solidFill>
          </a:ln>
          <a:effectLst>
            <a:outerShdw blurRad="50800" dist="38100" dir="2700000" algn="tl" rotWithShape="0">
              <a:srgbClr val="3A352E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050791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4A03C"/>
                </a:solidFill>
                <a:latin typeface="Playfair Display"/>
              </a:rPr>
              <a:t>AZURE AI FOUNDRY  ·  CampusPlacementAgent  ·  RAG Knowledge  ·  gpt-4.1-mini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7365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A7A5A"/>
                </a:solidFill>
                <a:latin typeface="Playfair Display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57800"/>
            <a:ext cx="2651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5321808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7A5A"/>
                </a:solidFill>
                <a:latin typeface="Playfair Display"/>
              </a:rPr>
              <a:t>ELIGIBILITY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5257800"/>
            <a:ext cx="2651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A3A3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5321808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A3A3A"/>
                </a:solidFill>
                <a:latin typeface="Playfair Display"/>
              </a:rPr>
              <a:t>SKILL GAP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257800"/>
            <a:ext cx="2651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5321808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A5A8A"/>
                </a:solidFill>
                <a:latin typeface="Playfair Display"/>
              </a:rPr>
              <a:t>PREPARATION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81160" y="5257800"/>
            <a:ext cx="26517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8A8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4312" y="5321808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8A8A"/>
                </a:solidFill>
                <a:latin typeface="Playfair Display"/>
              </a:rPr>
              <a:t>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04 /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TECHNICAL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0292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11247120" cy="71323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5A8A"/>
                </a:solidFill>
                <a:latin typeface="Playfair Display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373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React 18  ·  TypeScript  ·  Vite 5  ·  Tailwind CSS 3  ·  React Router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31343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04872"/>
            <a:ext cx="11247120" cy="713232"/>
          </a:xfrm>
          <a:prstGeom prst="roundRect">
            <a:avLst/>
          </a:prstGeom>
          <a:solidFill>
            <a:srgbClr val="FBF3F0"/>
          </a:solidFill>
          <a:ln w="15240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7A5A"/>
                </a:solidFill>
                <a:latin typeface="Playfair Display"/>
              </a:rPr>
              <a:t>API /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4203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Express.js 4  ·  TypeScript  ·  REST API  ·  JWT Auth  ·  express-validator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118104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9544"/>
            <a:ext cx="11247120" cy="713232"/>
          </a:xfrm>
          <a:prstGeom prst="roundRect">
            <a:avLst/>
          </a:prstGeom>
          <a:solidFill>
            <a:srgbClr val="F0FBF4"/>
          </a:solidFill>
          <a:ln w="15240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467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7A5A"/>
                </a:solidFill>
                <a:latin typeface="Playfair Display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4670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SQLite (better-sqlite3 v13)  ·  8 tables  ·  WAL mode  ·  FK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22776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14216"/>
            <a:ext cx="11247120" cy="713232"/>
          </a:xfrm>
          <a:prstGeom prst="roundRect">
            <a:avLst/>
          </a:prstGeom>
          <a:solidFill>
            <a:srgbClr val="F0F8F8"/>
          </a:solidFill>
          <a:ln w="15240">
            <a:solidFill>
              <a:srgbClr val="4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513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8A8A"/>
                </a:solidFill>
                <a:latin typeface="Playfair Display"/>
              </a:rPr>
              <a:t>Docs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5137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multer v2.4  ·  pdf-parse (PDF)  ·  mammoth (DOCX)  ·  5 MB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72744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18888"/>
            <a:ext cx="11247120" cy="713232"/>
          </a:xfrm>
          <a:prstGeom prst="roundRect">
            <a:avLst/>
          </a:prstGeom>
          <a:solidFill>
            <a:srgbClr val="FDF8EE"/>
          </a:solidFill>
          <a:ln w="15240">
            <a:solidFill>
              <a:srgbClr val="C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56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A03C"/>
                </a:solidFill>
                <a:latin typeface="Playfair Display"/>
              </a:rPr>
              <a:t>AI /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95604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@azure/ai-projects v2.7.0  ·  AIProjectClient  ·  CampusPlacementAgent  ·  gpt-4.1-mini  ·  Responses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53212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23560"/>
            <a:ext cx="11247120" cy="713232"/>
          </a:xfrm>
          <a:prstGeom prst="roundRect">
            <a:avLst/>
          </a:prstGeom>
          <a:solidFill>
            <a:srgbClr val="F6F5F3"/>
          </a:solidFill>
          <a:ln w="1524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A7367"/>
                </a:solidFill>
                <a:latin typeface="Playfair Display"/>
              </a:rPr>
              <a:t>Auth / Sec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760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jsonwebtoken  ·  bcryptjs (12 rounds)  ·  Stateless JWT  ·  Creds never reach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Monorepo: /client (React/Vite)  ·  /server (Express/TS)  ·  npm run dev (concurrently)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A5A"/>
                </a:solidFill>
                <a:latin typeface="Work Sans"/>
              </a:rPr>
              <a:t>THE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Azure AI Foundry +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6400800" cy="1905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90000">
            <a:off x="365760" y="1645920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">
            <a:off x="475488" y="1755648"/>
            <a:ext cx="4901184" cy="493776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5A8A"/>
                </a:solidFill>
                <a:latin typeface="Playfair Display"/>
              </a:rPr>
              <a:t>Placement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4718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Docs, requirements, role info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stored in Foundry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249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 rot="21510000">
            <a:off x="365760" y="2816352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510000">
            <a:off x="475488" y="2926080"/>
            <a:ext cx="4901184" cy="493776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99232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8A8A"/>
                </a:solidFill>
                <a:latin typeface="Playfair Display"/>
              </a:rP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83280"/>
            <a:ext cx="4718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Relevant docs pulled based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on student query +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9534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 rot="90000">
            <a:off x="365760" y="3986784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90000">
            <a:off x="475488" y="4096512"/>
            <a:ext cx="4901184" cy="493776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169664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7A5A"/>
                </a:solidFill>
                <a:latin typeface="Playfair Display"/>
              </a:rPr>
              <a:t>Augmentation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53712"/>
            <a:ext cx="4718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Profile + resume text +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conversation history 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06577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 rot="21510000">
            <a:off x="365760" y="5157216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1510000">
            <a:off x="475488" y="5266944"/>
            <a:ext cx="4901184" cy="493776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340096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7A5A"/>
                </a:solidFill>
                <a:latin typeface="Playfair Display"/>
              </a:rPr>
              <a:t>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724144"/>
            <a:ext cx="47183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CampusPlacementAgent produces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grounded placement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645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A7367"/>
                </a:solidFill>
                <a:latin typeface="Work Sans"/>
              </a:rPr>
              <a:t>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1938528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1938528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@azure/ai-projects  v2.7.0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359152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Client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432304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AIProjectClient(endpoint, DefaultAzureCredential)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852928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92608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Agent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926080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.getOpenAIClient({ azureConfig: { agentName } })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346704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41985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API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419856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openai.responses.create({ model, input })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840480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3913632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913632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gpt-4.1-mini  (deployed in Foundry project)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34256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4407408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407408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CampusPlacementAgent  (pre-configured + RAG)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828032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901184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901184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Profile + Skills + Resume + Chat History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5321808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539496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Auth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394960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DefaultAzureCredential  (az login)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5815584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5888736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Rule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5888736"/>
            <a:ext cx="4343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352E"/>
                </a:solidFill>
                <a:latin typeface="Work Sans"/>
              </a:rPr>
              <a:t>Azure creds never reach the React frontend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6309360"/>
            <a:ext cx="6126480" cy="508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0" y="63550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7A5A"/>
                </a:solidFill>
                <a:latin typeface="Playfair Display"/>
              </a:rPr>
              <a:t>KNOWLEDGE-GROUNDED AI — not generic ChatGPT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7A5A"/>
                </a:solidFill>
                <a:latin typeface="Work Sans"/>
              </a:rPr>
              <a:t>FEATURE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Eligibility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029200" cy="19050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11480" y="1600200"/>
            <a:ext cx="3840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21208" y="1709928"/>
            <a:ext cx="3621024" cy="3072384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34381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52E"/>
                </a:solidFill>
                <a:latin typeface="Work Sans"/>
              </a:rPr>
              <a:t>• Academic profile (CGPA, backlogs)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34381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52E"/>
                </a:solidFill>
                <a:latin typeface="Work Sans"/>
              </a:rPr>
              <a:t>• Degree / Branch /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34381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52E"/>
                </a:solidFill>
                <a:latin typeface="Work Sans"/>
              </a:rPr>
              <a:t>• Technical skills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54680"/>
            <a:ext cx="34381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52E"/>
                </a:solidFill>
                <a:latin typeface="Work Sans"/>
              </a:rPr>
              <a:t>• Projects &amp; certifications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11880"/>
            <a:ext cx="34381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52E"/>
                </a:solidFill>
                <a:latin typeface="Work Sans"/>
              </a:rPr>
              <a:t>• Resume text (uploaded)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069080"/>
            <a:ext cx="34381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352E"/>
                </a:solidFill>
                <a:latin typeface="Work Sans"/>
              </a:rPr>
              <a:t>• Target company &amp; role</a:t>
            </a:r>
          </a:p>
        </p:txBody>
      </p:sp>
      <p:sp>
        <p:nvSpPr>
          <p:cNvPr id="15" name="TextBox 14"/>
          <p:cNvSpPr txBox="1"/>
          <p:nvPr/>
        </p:nvSpPr>
        <p:spPr>
          <a:xfrm rot="21480000">
            <a:off x="521208" y="4828032"/>
            <a:ext cx="36210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inputs to analysis</a:t>
            </a:r>
          </a:p>
        </p:txBody>
      </p:sp>
      <p:sp>
        <p:nvSpPr>
          <p:cNvPr id="16" name="Rectangle 15"/>
          <p:cNvSpPr/>
          <p:nvPr/>
        </p:nvSpPr>
        <p:spPr>
          <a:xfrm rot="2280000">
            <a:off x="1975104" y="14996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560320"/>
            <a:ext cx="2743200" cy="1645920"/>
          </a:xfrm>
          <a:prstGeom prst="roundRect">
            <a:avLst/>
          </a:prstGeom>
          <a:solidFill>
            <a:srgbClr val="FDF8F2"/>
          </a:solidFill>
          <a:ln w="22860">
            <a:solidFill>
              <a:srgbClr val="C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65176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4A03C"/>
                </a:solidFill>
                <a:latin typeface="Playfair Display"/>
              </a:rPr>
              <a:t>CampusPlacement</a:t>
            </a:r>
          </a:p>
          <a:p>
            <a:pPr algn="ctr"/>
            <a:r>
              <a:rPr sz="1150" b="1" i="0">
                <a:solidFill>
                  <a:srgbClr val="C4A03C"/>
                </a:solidFill>
                <a:latin typeface="Playfair Display"/>
              </a:rPr>
              <a:t>Agent</a:t>
            </a:r>
          </a:p>
          <a:p>
            <a:pPr algn="ctr"/>
            <a:r>
              <a:rPr sz="1150" b="1" i="0">
                <a:solidFill>
                  <a:srgbClr val="C4A03C"/>
                </a:solidFill>
                <a:latin typeface="Playfair Display"/>
              </a:rPr>
              <a:t>+</a:t>
            </a:r>
          </a:p>
          <a:p>
            <a:pPr algn="ctr"/>
            <a:r>
              <a:rPr sz="1150" b="1" i="0">
                <a:solidFill>
                  <a:srgbClr val="C4A03C"/>
                </a:solidFill>
                <a:latin typeface="Playfair Display"/>
              </a:rP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 rot="90000">
            <a:off x="8183879" y="1600200"/>
            <a:ext cx="365760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90000">
            <a:off x="8293607" y="1709928"/>
            <a:ext cx="3438144" cy="896112"/>
          </a:xfrm>
          <a:prstGeom prst="rect">
            <a:avLst/>
          </a:prstGeom>
          <a:solidFill>
            <a:srgbClr val="F0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7" y="1801368"/>
            <a:ext cx="3255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7A5A"/>
                </a:solidFill>
                <a:latin typeface="Playfair Display"/>
              </a:rPr>
              <a:t>✓  SATISFIED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5047" y="2240280"/>
            <a:ext cx="3255264" cy="9525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7" y="2368296"/>
            <a:ext cx="32552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Requirement clearly met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based on available profile data.</a:t>
            </a:r>
          </a:p>
        </p:txBody>
      </p:sp>
      <p:sp>
        <p:nvSpPr>
          <p:cNvPr id="26" name="Rectangle 25"/>
          <p:cNvSpPr/>
          <p:nvPr/>
        </p:nvSpPr>
        <p:spPr>
          <a:xfrm rot="2490000">
            <a:off x="9656063" y="14996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1510000">
            <a:off x="8183879" y="3172968"/>
            <a:ext cx="365760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1510000">
            <a:off x="8293607" y="3282696"/>
            <a:ext cx="3438144" cy="89611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7" y="3374136"/>
            <a:ext cx="3255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A5A8A"/>
                </a:solidFill>
                <a:latin typeface="Playfair Display"/>
              </a:rPr>
              <a:t>?  INFO MISSING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85047" y="3813048"/>
            <a:ext cx="3255264" cy="9525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3941064"/>
            <a:ext cx="32552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Data not provided — NOT treated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as a confirmed gap.</a:t>
            </a:r>
          </a:p>
        </p:txBody>
      </p:sp>
      <p:sp>
        <p:nvSpPr>
          <p:cNvPr id="32" name="Rectangle 31"/>
          <p:cNvSpPr/>
          <p:nvPr/>
        </p:nvSpPr>
        <p:spPr>
          <a:xfrm rot="2310000">
            <a:off x="9656063" y="3072384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90000">
            <a:off x="8183879" y="4745736"/>
            <a:ext cx="3657600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90000">
            <a:off x="8293607" y="4855464"/>
            <a:ext cx="3438144" cy="896112"/>
          </a:xfrm>
          <a:prstGeom prst="rect">
            <a:avLst/>
          </a:prstGeom>
          <a:solidFill>
            <a:srgbClr val="FB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7" y="4946904"/>
            <a:ext cx="3255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A3A3A"/>
                </a:solidFill>
                <a:latin typeface="Playfair Display"/>
              </a:rPr>
              <a:t>⚠  CONFIRMED GAP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5047" y="5385816"/>
            <a:ext cx="3255264" cy="9525"/>
          </a:xfrm>
          <a:prstGeom prst="rect">
            <a:avLst/>
          </a:prstGeom>
          <a:solidFill>
            <a:srgbClr val="9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5513832"/>
            <a:ext cx="325526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Clearly lacking based on</a:t>
            </a:r>
          </a:p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available information.</a:t>
            </a:r>
          </a:p>
        </p:txBody>
      </p:sp>
      <p:sp>
        <p:nvSpPr>
          <p:cNvPr id="38" name="Rectangle 37"/>
          <p:cNvSpPr/>
          <p:nvPr/>
        </p:nvSpPr>
        <p:spPr>
          <a:xfrm rot="2490000">
            <a:off x="9656063" y="4645152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1480" y="5394960"/>
            <a:ext cx="11338560" cy="658368"/>
          </a:xfrm>
          <a:prstGeom prst="roundRect">
            <a:avLst/>
          </a:prstGeom>
          <a:solidFill>
            <a:srgbClr val="FDF8F2"/>
          </a:solidFill>
          <a:ln w="19050">
            <a:solidFill>
              <a:srgbClr val="C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4681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A03C"/>
                </a:solidFill>
                <a:latin typeface="Playfair Display"/>
              </a:rPr>
              <a:t>⚑  KEY PRINCIPLE: "Information Missing ≠ Confirmed Skill Gap"  ·  Platform does not guarantee selection.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5A8A"/>
                </a:solidFill>
                <a:latin typeface="Work Sans"/>
              </a:rPr>
              <a:t>FEATURE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Skill Gap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572000" cy="19050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384048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Work Sans"/>
              </a:rPr>
              <a:t>REQUIRED SKILL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600200"/>
            <a:ext cx="3200400" cy="384048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Work Sans"/>
              </a:rPr>
              <a:t>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1600200"/>
            <a:ext cx="4389120" cy="384048"/>
          </a:xfrm>
          <a:prstGeom prst="rect">
            <a:avLst/>
          </a:prstGeom>
          <a:solidFill>
            <a:srgbClr val="3A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Work Sans"/>
              </a:rP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29968"/>
            <a:ext cx="365760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029968"/>
            <a:ext cx="320040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2029968"/>
            <a:ext cx="438912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396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Work Sans"/>
              </a:rPr>
              <a:t>Python Programming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396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✓  SATISFIED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13969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367"/>
                </a:solidFill>
                <a:latin typeface="Work Sans"/>
              </a:rPr>
              <a:t>No action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88336"/>
            <a:ext cx="365760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2688336"/>
            <a:ext cx="320040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2688336"/>
            <a:ext cx="438912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980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Work Sans"/>
              </a:rPr>
              <a:t>Data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7980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✓  SATISFIED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79806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367"/>
                </a:solidFill>
                <a:latin typeface="Work Sans"/>
              </a:rPr>
              <a:t>No action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46704"/>
            <a:ext cx="365760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346704"/>
            <a:ext cx="320040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3346704"/>
            <a:ext cx="438912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56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Work Sans"/>
              </a:rPr>
              <a:t>SQL / Databases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456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?  INFO MISSING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45643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367"/>
                </a:solidFill>
                <a:latin typeface="Work Sans"/>
              </a:rPr>
              <a:t>Provide in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05072"/>
            <a:ext cx="365760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4005072"/>
            <a:ext cx="320040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4005072"/>
            <a:ext cx="438912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114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Work Sans"/>
              </a:rPr>
              <a:t>Machine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114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A3A3A"/>
                </a:solidFill>
                <a:latin typeface="Playfair Display"/>
              </a:rPr>
              <a:t>⚠  CONFIRMED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1148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367"/>
                </a:solidFill>
                <a:latin typeface="Work Sans"/>
              </a:rPr>
              <a:t>Focus in prep plan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63440"/>
            <a:ext cx="365760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4663440"/>
            <a:ext cx="320040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4663440"/>
            <a:ext cx="4389120" cy="621792"/>
          </a:xfrm>
          <a:prstGeom prst="rect">
            <a:avLst/>
          </a:prstGeom>
          <a:solidFill>
            <a:srgbClr val="FAF9F6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7731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Work Sans"/>
              </a:rPr>
              <a:t>Cloud Computing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773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A3A3A"/>
                </a:solidFill>
                <a:latin typeface="Playfair Display"/>
              </a:rPr>
              <a:t>⚠  CONFIRMED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7731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367"/>
                </a:solidFill>
                <a:latin typeface="Work Sans"/>
              </a:rPr>
              <a:t>Azure/AWS fundamentals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21808"/>
            <a:ext cx="365760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60" y="5321808"/>
            <a:ext cx="320040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0" y="5321808"/>
            <a:ext cx="4389120" cy="621792"/>
          </a:xfrm>
          <a:prstGeom prst="rect">
            <a:avLst/>
          </a:prstGeom>
          <a:solidFill>
            <a:srgbClr val="F5F3EE"/>
          </a:solidFill>
          <a:ln w="635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Work Sans"/>
              </a:rPr>
              <a:t>Communication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43153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?  INFO MISSING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43153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7367"/>
                </a:solidFill>
                <a:latin typeface="Work Sans"/>
              </a:rPr>
              <a:t>Add to profile/resume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3825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— Illustrative example rows. Actual AI output is generated per student profile &amp; target role.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13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A5A"/>
                </a:solidFill>
                <a:latin typeface="Work Sans"/>
              </a:rPr>
              <a:t>FEATURE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Personalized Preparation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6400800" cy="1905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11480" y="1627632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21208" y="1737360"/>
            <a:ext cx="3255264" cy="2615184"/>
          </a:xfrm>
          <a:prstGeom prst="rect">
            <a:avLst/>
          </a:prstGeom>
          <a:solidFill>
            <a:srgbClr val="FB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2880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Work Sans"/>
              </a:rPr>
              <a:t>• Complete student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33172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Work Sans"/>
              </a:rPr>
              <a:t>• Target company &amp;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83464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Work Sans"/>
              </a:rPr>
              <a:t>• Confirmed skill gaps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337560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Work Sans"/>
              </a:rPr>
              <a:t>• Resume context</a:t>
            </a:r>
          </a:p>
        </p:txBody>
      </p:sp>
      <p:sp>
        <p:nvSpPr>
          <p:cNvPr id="13" name="TextBox 12"/>
          <p:cNvSpPr txBox="1"/>
          <p:nvPr/>
        </p:nvSpPr>
        <p:spPr>
          <a:xfrm rot="21480000">
            <a:off x="521208" y="4398264"/>
            <a:ext cx="32552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inputs</a:t>
            </a:r>
          </a:p>
        </p:txBody>
      </p:sp>
      <p:sp>
        <p:nvSpPr>
          <p:cNvPr id="14" name="Rectangle 13"/>
          <p:cNvSpPr/>
          <p:nvPr/>
        </p:nvSpPr>
        <p:spPr>
          <a:xfrm rot="2280000">
            <a:off x="1792224" y="1527048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971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2240280"/>
            <a:ext cx="2286000" cy="2286000"/>
          </a:xfrm>
          <a:prstGeom prst="roundRect">
            <a:avLst/>
          </a:prstGeom>
          <a:solidFill>
            <a:srgbClr val="FDF8F2"/>
          </a:solidFill>
          <a:ln w="22860">
            <a:solidFill>
              <a:srgbClr val="C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377440"/>
            <a:ext cx="221284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4A03C"/>
                </a:solidFill>
                <a:latin typeface="Playfair Display"/>
              </a:rPr>
              <a:t>AI</a:t>
            </a:r>
          </a:p>
          <a:p>
            <a:pPr algn="ctr"/>
            <a:r>
              <a:rPr sz="1400" b="1" i="0">
                <a:solidFill>
                  <a:srgbClr val="C4A03C"/>
                </a:solidFill>
                <a:latin typeface="Playfair Display"/>
              </a:rPr>
              <a:t>Engine</a:t>
            </a:r>
          </a:p>
          <a:p>
            <a:pPr algn="ctr"/>
            <a:r>
              <a:rPr sz="1400" b="1" i="0">
                <a:solidFill>
                  <a:srgbClr val="C4A03C"/>
                </a:solidFill>
                <a:latin typeface="Playfair Display"/>
              </a:rPr>
              <a:t>+</a:t>
            </a:r>
          </a:p>
          <a:p>
            <a:pPr algn="ctr"/>
            <a:r>
              <a:rPr sz="1400" b="1" i="0">
                <a:solidFill>
                  <a:srgbClr val="C4A03C"/>
                </a:solidFill>
                <a:latin typeface="Playfair Display"/>
              </a:rPr>
              <a:t>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9718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600200"/>
            <a:ext cx="4663440" cy="80467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6550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5A8A"/>
                </a:solidFill>
                <a:latin typeface="Playfair Display"/>
              </a:rPr>
              <a:t>Phase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6550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Playfair Display"/>
              </a:rPr>
              <a:t>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020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Core concepts &amp; prerequisites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2505456"/>
            <a:ext cx="4663440" cy="804672"/>
          </a:xfrm>
          <a:prstGeom prst="roundRect">
            <a:avLst/>
          </a:prstGeom>
          <a:solidFill>
            <a:srgbClr val="F0FBF4"/>
          </a:solidFill>
          <a:ln w="15240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2560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7A5A"/>
                </a:solidFill>
                <a:latin typeface="Playfair Display"/>
              </a:rPr>
              <a:t>Phase 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5603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Playfair Display"/>
              </a:rPr>
              <a:t>Core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9260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Develop confirmed gap skills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3410712"/>
            <a:ext cx="4663440" cy="804672"/>
          </a:xfrm>
          <a:prstGeom prst="roundRect">
            <a:avLst/>
          </a:prstGeom>
          <a:solidFill>
            <a:srgbClr val="FBF3F0"/>
          </a:solidFill>
          <a:ln w="15240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465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7A5A"/>
                </a:solidFill>
                <a:latin typeface="Playfair Display"/>
              </a:rPr>
              <a:t>Phase III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4655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Playfair Display"/>
              </a:rPr>
              <a:t>Role Preparation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8313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Role-specific technical topics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4315968"/>
            <a:ext cx="4663440" cy="804672"/>
          </a:xfrm>
          <a:prstGeom prst="roundRect">
            <a:avLst/>
          </a:prstGeom>
          <a:solidFill>
            <a:srgbClr val="F0F8F8"/>
          </a:solidFill>
          <a:ln w="15240">
            <a:solidFill>
              <a:srgbClr val="4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43708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8A8A"/>
                </a:solidFill>
                <a:latin typeface="Playfair Display"/>
              </a:rPr>
              <a:t>Phase IV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3708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Playfair Display"/>
              </a:rPr>
              <a:t>Interview Prep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7365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Aptitude, HR, technical rounds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5221224"/>
            <a:ext cx="4663440" cy="804672"/>
          </a:xfrm>
          <a:prstGeom prst="roundRect">
            <a:avLst/>
          </a:prstGeom>
          <a:solidFill>
            <a:srgbClr val="F6F5F3"/>
          </a:solidFill>
          <a:ln w="15240">
            <a:solidFill>
              <a:srgbClr val="7A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52760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A7367"/>
                </a:solidFill>
                <a:latin typeface="Playfair Display"/>
              </a:rPr>
              <a:t>Phase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52760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Playfair Display"/>
              </a:rPr>
              <a:t>Final 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641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Mock tests, revision,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276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A7367"/>
                </a:solidFill>
                <a:latin typeface="Work Sans"/>
              </a:rPr>
              <a:t>Preparation focuses ONLY on confirmed gaps — no wasted time on skills already present.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8A8A"/>
                </a:solidFill>
                <a:latin typeface="Work Sans"/>
              </a:rPr>
              <a:t>FEATURE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Resume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114800" cy="19050"/>
          </a:xfrm>
          <a:prstGeom prst="rect">
            <a:avLst/>
          </a:prstGeom>
          <a:solidFill>
            <a:srgbClr val="4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90000">
            <a:off x="411480" y="16916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">
            <a:off x="521208" y="1801368"/>
            <a:ext cx="1609344" cy="124358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40280"/>
            <a:ext cx="1463040" cy="9525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14630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PDF or DOCX  ·  max 5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8716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 rot="21510000">
            <a:off x="2377440" y="16916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510000">
            <a:off x="2487168" y="1801368"/>
            <a:ext cx="1609344" cy="124358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874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VALIDATE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240280"/>
            <a:ext cx="1463040" cy="9525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331720"/>
            <a:ext cx="14630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MIME check + extension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48716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 rot="90000">
            <a:off x="4343400" y="16916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90000">
            <a:off x="4453128" y="1801368"/>
            <a:ext cx="1609344" cy="124358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874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240280"/>
            <a:ext cx="1463040" cy="9525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331720"/>
            <a:ext cx="14630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Saved with unique filename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48716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 rot="21510000">
            <a:off x="6309360" y="16916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1510000">
            <a:off x="6419088" y="1801368"/>
            <a:ext cx="1609344" cy="124358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74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7A5A"/>
                </a:solidFill>
                <a:latin typeface="Playfair Display"/>
              </a:rPr>
              <a:t>EXTRACT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240280"/>
            <a:ext cx="1463040" cy="9525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331720"/>
            <a:ext cx="14630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pdf-parse (PDF)  ·  mammoth (DOCX)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8716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 rot="90000">
            <a:off x="8275320" y="16916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90000">
            <a:off x="8385048" y="1801368"/>
            <a:ext cx="1609344" cy="124358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1874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PERSIST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2240280"/>
            <a:ext cx="1463040" cy="9525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2331720"/>
            <a:ext cx="14630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extracted_text stored in SQLite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487168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A03C"/>
                </a:solidFill>
                <a:latin typeface="Playfair Display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 rot="21510000">
            <a:off x="10241280" y="169164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510000">
            <a:off x="10351008" y="1801368"/>
            <a:ext cx="1609344" cy="124358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18745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A03C"/>
                </a:solidFill>
                <a:latin typeface="Playfair Display"/>
              </a:rPr>
              <a:t>INTEGRATE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2240280"/>
            <a:ext cx="1463040" cy="9525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0" y="2331720"/>
            <a:ext cx="1463040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First 3000 chars in every AI 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3749039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• PDF Processing: pdf-parse  ·  text layer extraction from searchable PDFs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749039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• DOCX Processing: mammoth  ·  Word documents to plain 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4407407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• File Handling: multer v2.4  ·  diskStorage  ·  5 MB limit  ·  MIME validated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407407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• AI Integration: Resume text prepended to eligibility, skill-gap &amp; prep prompts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825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Note: Scanned/image PDFs without a text layer will not extract. Text-based PDFs and DOCX are fully supported.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05 /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A5A"/>
                </a:solidFill>
                <a:latin typeface="Work Sans"/>
              </a:rPr>
              <a:t>FEATURE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AI Placement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943600" cy="1905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A7367"/>
                </a:solidFill>
                <a:latin typeface="Work Sans"/>
              </a:rPr>
              <a:t>ILLUSTRATIVE EXAMPLE  (company from demonstration knowledge base)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38528"/>
            <a:ext cx="6858000" cy="777240"/>
          </a:xfrm>
          <a:prstGeom prst="roundRect">
            <a:avLst/>
          </a:prstGeom>
          <a:solidFill>
            <a:srgbClr val="F8F6F0"/>
          </a:solidFill>
          <a:ln w="15240">
            <a:solidFill>
              <a:srgbClr val="C4A03C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2011680"/>
            <a:ext cx="663854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What skills do I need for the Data Analyst role at TechNova?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17556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44368"/>
            <a:ext cx="6858000" cy="1234440"/>
          </a:xfrm>
          <a:prstGeom prst="roundRect">
            <a:avLst/>
          </a:prstGeom>
          <a:solidFill>
            <a:srgbClr val="EFF5FF"/>
          </a:solidFill>
          <a:ln w="1524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17520"/>
            <a:ext cx="663854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5A8A"/>
                </a:solidFill>
                <a:latin typeface="Work Sans"/>
              </a:rPr>
              <a:t>Based on your profile and TechNova's requirements in our knowledge base: Python ✓ (you have it listed). SQL is not mentioned in your profile — I'd recommend adding it if you have experience, or treating it as a learning priority. Power BI and statistical modelling appear to be gap areas worth focusing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614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CampusPlacementAgent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407408"/>
            <a:ext cx="6858000" cy="777240"/>
          </a:xfrm>
          <a:prstGeom prst="roundRect">
            <a:avLst/>
          </a:prstGeom>
          <a:solidFill>
            <a:srgbClr val="F8F6F0"/>
          </a:solidFill>
          <a:ln w="15240">
            <a:solidFill>
              <a:srgbClr val="C4A03C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4480560"/>
            <a:ext cx="663854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Give me a 2-week plan to prepare for TechNova's aptitude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4224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Student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13248"/>
            <a:ext cx="6858000" cy="1234440"/>
          </a:xfrm>
          <a:prstGeom prst="roundRect">
            <a:avLst/>
          </a:prstGeom>
          <a:solidFill>
            <a:srgbClr val="EFF5FF"/>
          </a:solidFill>
          <a:ln w="1524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486400"/>
            <a:ext cx="6638544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5A8A"/>
                </a:solidFill>
                <a:latin typeface="Work Sans"/>
              </a:rPr>
              <a:t>Week 1 — Quantitative Aptitude: percentages, ratios, speed-time, data interpretation.</a:t>
            </a:r>
          </a:p>
          <a:p>
            <a:pPr algn="l"/>
            <a:r>
              <a:rPr sz="950" b="0" i="0">
                <a:solidFill>
                  <a:srgbClr val="3A5A8A"/>
                </a:solidFill>
                <a:latin typeface="Work Sans"/>
              </a:rPr>
              <a:t>Week 2 — Logical Reasoning + Verbal Ability: pattern recognition, reading comprehension, mock tests with time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303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CampusPlacementAgent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5727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A7367"/>
                </a:solidFill>
                <a:latin typeface="Work Sans"/>
              </a:rPr>
              <a:t>TECHNICAL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202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367"/>
                </a:solidFill>
                <a:latin typeface="Playfair Display"/>
              </a:rPr>
              <a:t>User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23317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A03C"/>
                </a:solidFill>
                <a:latin typeface="Work San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4963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367"/>
                </a:solidFill>
                <a:latin typeface="Playfair Display"/>
              </a:rPr>
              <a:t>Last 6 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29077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A03C"/>
                </a:solidFill>
                <a:latin typeface="Work San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07238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367"/>
                </a:solidFill>
                <a:latin typeface="Playfair Display"/>
              </a:rPr>
              <a:t>Student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483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A03C"/>
                </a:solidFill>
                <a:latin typeface="Work San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64845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A03C"/>
                </a:solidFill>
                <a:latin typeface="Playfair Display"/>
              </a:rPr>
              <a:t>Azure AI Foundry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40599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A03C"/>
                </a:solidFill>
                <a:latin typeface="Work Sans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2245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367"/>
                </a:solidFill>
                <a:latin typeface="Playfair Display"/>
              </a:rPr>
              <a:t>RAG +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360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A03C"/>
                </a:solidFill>
                <a:latin typeface="Work San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8006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7367"/>
                </a:solidFill>
                <a:latin typeface="Playfair Display"/>
              </a:rPr>
              <a:t>AI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52120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A03C"/>
                </a:solidFill>
                <a:latin typeface="Work Sans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3766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7A5A"/>
                </a:solidFill>
                <a:latin typeface="Playfair Display"/>
              </a:rPr>
              <a:t>Saved to 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04 /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A3A3A"/>
                </a:solidFill>
                <a:latin typeface="Work San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Authentication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943600" cy="19050"/>
          </a:xfrm>
          <a:prstGeom prst="rect">
            <a:avLst/>
          </a:prstGeom>
          <a:solidFill>
            <a:srgbClr val="9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27632"/>
            <a:ext cx="11247120" cy="71323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5A8A"/>
                </a:solidFill>
                <a:latin typeface="Playfair Display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5564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email + password + fullName → bcrypt hash (12 rounds) → stored in users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340864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32304"/>
            <a:ext cx="11247120" cy="713232"/>
          </a:xfrm>
          <a:prstGeom prst="roundRect">
            <a:avLst/>
          </a:prstGeom>
          <a:solidFill>
            <a:srgbClr val="F0FBF4"/>
          </a:solidFill>
          <a:ln w="15240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7A5A"/>
                </a:solidFill>
                <a:latin typeface="Playfair Display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03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email + password → bcrypt.compare() → JWT signed (HS256, 7-day expiry)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145536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36976"/>
            <a:ext cx="11247120" cy="713232"/>
          </a:xfrm>
          <a:prstGeom prst="roundRect">
            <a:avLst/>
          </a:prstGeom>
          <a:solidFill>
            <a:srgbClr val="FBF3F0"/>
          </a:solidFill>
          <a:ln w="15240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7A5A"/>
                </a:solidFill>
                <a:latin typeface="Playfair Display"/>
              </a:rPr>
              <a:t>Every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6499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Authorization: Bearer &lt;token&gt; → authenticateToken middleware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95020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41648"/>
            <a:ext cx="11247120" cy="71323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966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5A8A"/>
                </a:solidFill>
                <a:latin typeface="Playfair Display"/>
              </a:rPr>
              <a:t>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6966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jwt.verify() → extract userId → attach to req.userId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75488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46320"/>
            <a:ext cx="11247120" cy="713232"/>
          </a:xfrm>
          <a:prstGeom prst="roundRect">
            <a:avLst/>
          </a:prstGeom>
          <a:solidFill>
            <a:srgbClr val="F0FBF4"/>
          </a:solidFill>
          <a:ln w="15240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7433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7A5A"/>
                </a:solidFill>
                <a:latin typeface="Playfair Display"/>
              </a:rPr>
              <a:t>Route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97433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req.userId scopes all DB queries — no cross-user data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55955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7367"/>
                </a:solidFill>
                <a:latin typeface="Work San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50992"/>
            <a:ext cx="11247120" cy="713232"/>
          </a:xfrm>
          <a:prstGeom prst="roundRect">
            <a:avLst/>
          </a:prstGeom>
          <a:solidFill>
            <a:srgbClr val="FDF8EE"/>
          </a:solidFill>
          <a:ln w="15240">
            <a:solidFill>
              <a:srgbClr val="C4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790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4A03C"/>
                </a:solidFill>
                <a:latin typeface="Playfair Display"/>
              </a:rPr>
              <a:t>AI Credential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7790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352E"/>
                </a:solidFill>
                <a:latin typeface="Work Sans"/>
              </a:rPr>
              <a:t>DefaultAzureCredential (az login) — Azure credentials never reach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Stateless JWT — no server-side sessions  ·  helmet + cors headers applied on all routes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04 /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A7A5A"/>
                </a:solidFill>
                <a:latin typeface="Work Sans"/>
              </a:rP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Database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029200" cy="19050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A7367"/>
                </a:solidFill>
                <a:latin typeface="Work Sans"/>
              </a:rPr>
              <a:t>SQLite  ·  better-sqlite3 v13  ·  WAL mode  ·  Foreign key constraints  ·  CASCADE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5577840" cy="89611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568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56816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email, password_hash, full_name, created_at, updated_at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01952"/>
            <a:ext cx="5577840" cy="896112"/>
          </a:xfrm>
          <a:prstGeom prst="roundRect">
            <a:avLst/>
          </a:prstGeom>
          <a:solidFill>
            <a:srgbClr val="F0FBF4"/>
          </a:solidFill>
          <a:ln w="15240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9568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56816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university, degree, branch, graduation_year, cgpa, backlogs, preferred_role, target_company, onboarding_completed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5577840" cy="89611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809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80944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name, category, created_at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577840" cy="896112"/>
          </a:xfrm>
          <a:prstGeom prst="roundRect">
            <a:avLst/>
          </a:prstGeom>
          <a:solidFill>
            <a:srgbClr val="F0FBF4"/>
          </a:solidFill>
          <a:ln w="15240">
            <a:solidFill>
              <a:srgbClr val="3A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98094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980944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name, description, technologies, created_at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50208"/>
            <a:ext cx="5577840" cy="896112"/>
          </a:xfrm>
          <a:prstGeom prst="roundRect">
            <a:avLst/>
          </a:prstGeom>
          <a:solidFill>
            <a:srgbClr val="F0F5FB"/>
          </a:solidFill>
          <a:ln w="15240">
            <a:solidFill>
              <a:srgbClr val="3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certifications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005072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name, issuer, year, created_at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950208"/>
            <a:ext cx="5577840" cy="896112"/>
          </a:xfrm>
          <a:prstGeom prst="roundRect">
            <a:avLst/>
          </a:prstGeom>
          <a:solidFill>
            <a:srgbClr val="FBF2F0"/>
          </a:solidFill>
          <a:ln w="15240">
            <a:solidFill>
              <a:srgbClr val="9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A3A3A"/>
                </a:solidFill>
                <a:latin typeface="Playfair Display"/>
              </a:rPr>
              <a:t>resumes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005072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filename, original_name, file_type, file_size, extracted_text, upload_date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74336"/>
            <a:ext cx="5577840" cy="896112"/>
          </a:xfrm>
          <a:prstGeom prst="roundRect">
            <a:avLst/>
          </a:prstGeom>
          <a:solidFill>
            <a:srgbClr val="FBF3F0"/>
          </a:solidFill>
          <a:ln w="15240">
            <a:solidFill>
              <a:srgbClr val="C0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7A5A"/>
                </a:solidFill>
                <a:latin typeface="Playfair Display"/>
              </a:rPr>
              <a:t>analyses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029200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type[eligibility|skill-gap|preparation], target_company, target_role, result, created_at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974336"/>
            <a:ext cx="5577840" cy="896112"/>
          </a:xfrm>
          <a:prstGeom prst="roundRect">
            <a:avLst/>
          </a:prstGeom>
          <a:solidFill>
            <a:srgbClr val="F0F8F8"/>
          </a:solidFill>
          <a:ln w="15240">
            <a:solidFill>
              <a:srgbClr val="4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8A8A"/>
                </a:solidFill>
                <a:latin typeface="Playfair Display"/>
              </a:rPr>
              <a:t>chat_messages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029200"/>
            <a:ext cx="3611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7A7367"/>
                </a:solidFill>
                <a:latin typeface="Work Sans"/>
              </a:rPr>
              <a:t>id, user_id, role[user|assistant], content, created_at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825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All tables: FOREIGN KEY (user_id) REFERENCES users(id) ON DELETE CASCADE  ·  PRAGMA foreign_keys = 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04 /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WHAT WE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5720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90000">
            <a:off x="411480" y="1600200"/>
            <a:ext cx="3703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">
            <a:off x="521208" y="1709928"/>
            <a:ext cx="3483864" cy="160934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3300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5A8A"/>
                </a:solidFill>
                <a:latin typeface="Playfair Display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212848"/>
            <a:ext cx="3300984" cy="12700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3172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React 18  →  UI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15768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TypeScript  →  Type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99816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Vite 5  →  Build / dev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83864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Tailwind CSS 3  → 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67912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React Router v6  → 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5196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lucide-react  →  Icons</a:t>
            </a:r>
          </a:p>
        </p:txBody>
      </p:sp>
      <p:sp>
        <p:nvSpPr>
          <p:cNvPr id="17" name="TextBox 16"/>
          <p:cNvSpPr txBox="1"/>
          <p:nvPr/>
        </p:nvSpPr>
        <p:spPr>
          <a:xfrm rot="90000">
            <a:off x="521208" y="336499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frontend</a:t>
            </a:r>
          </a:p>
        </p:txBody>
      </p:sp>
      <p:sp>
        <p:nvSpPr>
          <p:cNvPr id="18" name="Rectangle 17"/>
          <p:cNvSpPr/>
          <p:nvPr/>
        </p:nvSpPr>
        <p:spPr>
          <a:xfrm rot="2490000">
            <a:off x="1906524" y="14996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510000">
            <a:off x="4343400" y="1600200"/>
            <a:ext cx="3703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510000">
            <a:off x="4453128" y="1709928"/>
            <a:ext cx="3483864" cy="160934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1783080"/>
            <a:ext cx="3300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7A5A"/>
                </a:solidFill>
                <a:latin typeface="Playfair Display"/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44568" y="2212848"/>
            <a:ext cx="3300984" cy="1270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33172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Express.js 4  →  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715768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TypeScript  →  Server type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099816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ts-node-dev  →  Hot reload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483864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express-validator  →  Inputs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867912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helmet + cors  → 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25196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morgan  →  HTTP logging</a:t>
            </a:r>
          </a:p>
        </p:txBody>
      </p:sp>
      <p:sp>
        <p:nvSpPr>
          <p:cNvPr id="29" name="TextBox 28"/>
          <p:cNvSpPr txBox="1"/>
          <p:nvPr/>
        </p:nvSpPr>
        <p:spPr>
          <a:xfrm rot="21510000">
            <a:off x="4453128" y="336499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backend</a:t>
            </a:r>
          </a:p>
        </p:txBody>
      </p:sp>
      <p:sp>
        <p:nvSpPr>
          <p:cNvPr id="30" name="Rectangle 29"/>
          <p:cNvSpPr/>
          <p:nvPr/>
        </p:nvSpPr>
        <p:spPr>
          <a:xfrm rot="2310000">
            <a:off x="5838444" y="149961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90000">
            <a:off x="8275320" y="1600200"/>
            <a:ext cx="3703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90000">
            <a:off x="8385048" y="1709928"/>
            <a:ext cx="3483864" cy="160934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1783080"/>
            <a:ext cx="3300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7A5A"/>
                </a:solidFill>
                <a:latin typeface="Playfair Display"/>
              </a:rPr>
              <a:t>Database &amp; 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76488" y="2212848"/>
            <a:ext cx="3300984" cy="12700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233172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SQLite (better-sqlite3 v13)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2715768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8 tables  ·  WAL mode  ·  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3099816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jsonwebtoken  →  JWT 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3483864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bcryptjs (12 rounds)  →  Hash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3867912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Stateless — no sessions</a:t>
            </a:r>
          </a:p>
        </p:txBody>
      </p:sp>
      <p:sp>
        <p:nvSpPr>
          <p:cNvPr id="40" name="TextBox 39"/>
          <p:cNvSpPr txBox="1"/>
          <p:nvPr/>
        </p:nvSpPr>
        <p:spPr>
          <a:xfrm rot="90000">
            <a:off x="8385048" y="336499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database &amp; auth</a:t>
            </a:r>
          </a:p>
        </p:txBody>
      </p:sp>
      <p:sp>
        <p:nvSpPr>
          <p:cNvPr id="41" name="Rectangle 40"/>
          <p:cNvSpPr/>
          <p:nvPr/>
        </p:nvSpPr>
        <p:spPr>
          <a:xfrm rot="2490000">
            <a:off x="9770364" y="149961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1510000">
            <a:off x="411480" y="3977640"/>
            <a:ext cx="3703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1510000">
            <a:off x="521208" y="4087368"/>
            <a:ext cx="3483864" cy="160934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4160520"/>
            <a:ext cx="3300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A03C"/>
                </a:solidFill>
                <a:latin typeface="Playfair Display"/>
              </a:rPr>
              <a:t>AI / Cloud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" y="4590288"/>
            <a:ext cx="3300984" cy="1270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470916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@azure/ai-projects  v2.7.0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5093208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AIProjectClient  →  Foundry SDK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5477256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CampusPlacementAgent (pre-built)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5861304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gpt-4.1-mini  →  deployed model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6245352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Responses API  →  inference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662940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DefaultAzureCredential  →  auth</a:t>
            </a:r>
          </a:p>
        </p:txBody>
      </p:sp>
      <p:sp>
        <p:nvSpPr>
          <p:cNvPr id="52" name="TextBox 51"/>
          <p:cNvSpPr txBox="1"/>
          <p:nvPr/>
        </p:nvSpPr>
        <p:spPr>
          <a:xfrm rot="21510000">
            <a:off x="521208" y="574243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ai / cloud</a:t>
            </a:r>
          </a:p>
        </p:txBody>
      </p:sp>
      <p:sp>
        <p:nvSpPr>
          <p:cNvPr id="53" name="Rectangle 52"/>
          <p:cNvSpPr/>
          <p:nvPr/>
        </p:nvSpPr>
        <p:spPr>
          <a:xfrm rot="2310000">
            <a:off x="1906524" y="387705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90000">
            <a:off x="4343400" y="3977640"/>
            <a:ext cx="3703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 rot="90000">
            <a:off x="4453128" y="4087368"/>
            <a:ext cx="3483864" cy="160934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4568" y="4160520"/>
            <a:ext cx="3300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8A8A"/>
                </a:solidFill>
                <a:latin typeface="Playfair Display"/>
              </a:rPr>
              <a:t>Doc Processing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44568" y="4590288"/>
            <a:ext cx="3300984" cy="12700"/>
          </a:xfrm>
          <a:prstGeom prst="rect">
            <a:avLst/>
          </a:prstGeom>
          <a:solidFill>
            <a:srgbClr val="4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4568" y="470916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multer v2.4  →  file upload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4568" y="5093208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pdf-parse  →  PDF text extract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4568" y="5477256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mammoth  →  DOCX convert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44568" y="5861304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5 MB limit  ·  MIME validated</a:t>
            </a:r>
          </a:p>
        </p:txBody>
      </p:sp>
      <p:sp>
        <p:nvSpPr>
          <p:cNvPr id="62" name="TextBox 61"/>
          <p:cNvSpPr txBox="1"/>
          <p:nvPr/>
        </p:nvSpPr>
        <p:spPr>
          <a:xfrm rot="90000">
            <a:off x="4453128" y="574243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doc processing</a:t>
            </a:r>
          </a:p>
        </p:txBody>
      </p:sp>
      <p:sp>
        <p:nvSpPr>
          <p:cNvPr id="63" name="Rectangle 62"/>
          <p:cNvSpPr/>
          <p:nvPr/>
        </p:nvSpPr>
        <p:spPr>
          <a:xfrm rot="2490000">
            <a:off x="5838444" y="387705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 rot="21510000">
            <a:off x="8275320" y="3977640"/>
            <a:ext cx="37033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 rot="21510000">
            <a:off x="8385048" y="4087368"/>
            <a:ext cx="3483864" cy="160934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76488" y="4160520"/>
            <a:ext cx="3300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7367"/>
                </a:solidFill>
                <a:latin typeface="Playfair Display"/>
              </a:rPr>
              <a:t>Dev Tools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76488" y="4590288"/>
            <a:ext cx="3300984" cy="12700"/>
          </a:xfrm>
          <a:prstGeom prst="rect">
            <a:avLst/>
          </a:prstGeom>
          <a:solidFill>
            <a:srgbClr val="7A7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76488" y="4709160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Node.js v24  →  runtime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76488" y="5093208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concurrently  →  mono-repo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76488" y="5477256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TypeScript 5.4 (client+server)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76488" y="5861304"/>
            <a:ext cx="3300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ESLint  →  code quality</a:t>
            </a:r>
          </a:p>
        </p:txBody>
      </p:sp>
      <p:sp>
        <p:nvSpPr>
          <p:cNvPr id="72" name="TextBox 71"/>
          <p:cNvSpPr txBox="1"/>
          <p:nvPr/>
        </p:nvSpPr>
        <p:spPr>
          <a:xfrm rot="21510000">
            <a:off x="8385048" y="5742432"/>
            <a:ext cx="34838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dev tools</a:t>
            </a:r>
          </a:p>
        </p:txBody>
      </p:sp>
      <p:sp>
        <p:nvSpPr>
          <p:cNvPr id="73" name="Rectangle 72"/>
          <p:cNvSpPr/>
          <p:nvPr/>
        </p:nvSpPr>
        <p:spPr>
          <a:xfrm rot="2310000">
            <a:off x="9770364" y="387705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3825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Not used: PostgreSQL  ·  MongoDB  ·  OpenAI direct API  ·  Microservices  ·  Production cloud  ·  Multi-agent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06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THE ACTUAL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A352E"/>
                </a:solidFill>
                <a:latin typeface="Playfair Display"/>
              </a:rPr>
              <a:t>Application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64008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11480" y="1664208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21208" y="1773936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521208" y="1773936"/>
            <a:ext cx="3438144" cy="987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rot="21480000">
            <a:off x="521208" y="2807208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Landing Page</a:t>
            </a:r>
          </a:p>
        </p:txBody>
      </p:sp>
      <p:sp>
        <p:nvSpPr>
          <p:cNvPr id="11" name="Rectangle 10"/>
          <p:cNvSpPr/>
          <p:nvPr/>
        </p:nvSpPr>
        <p:spPr>
          <a:xfrm rot="2280000">
            <a:off x="1883664" y="1563624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">
            <a:off x="4343400" y="1664208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">
            <a:off x="4453128" y="1773936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4453128" y="1773936"/>
            <a:ext cx="3438144" cy="987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120000">
            <a:off x="4453128" y="2807208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Login</a:t>
            </a:r>
          </a:p>
        </p:txBody>
      </p:sp>
      <p:sp>
        <p:nvSpPr>
          <p:cNvPr id="16" name="Rectangle 15"/>
          <p:cNvSpPr/>
          <p:nvPr/>
        </p:nvSpPr>
        <p:spPr>
          <a:xfrm rot="2520000">
            <a:off x="5815584" y="1563624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510000">
            <a:off x="8275320" y="1664208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510000">
            <a:off x="8385048" y="1773936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10000">
            <a:off x="8385048" y="1773936"/>
            <a:ext cx="3438144" cy="9875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 rot="21510000">
            <a:off x="8385048" y="2807208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Registration</a:t>
            </a:r>
          </a:p>
        </p:txBody>
      </p:sp>
      <p:sp>
        <p:nvSpPr>
          <p:cNvPr id="21" name="Rectangle 20"/>
          <p:cNvSpPr/>
          <p:nvPr/>
        </p:nvSpPr>
        <p:spPr>
          <a:xfrm rot="2310000">
            <a:off x="9747504" y="1563624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50000">
            <a:off x="411480" y="3328416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50000">
            <a:off x="521208" y="3438144"/>
            <a:ext cx="3438144" cy="987552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685032"/>
            <a:ext cx="325526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7A7367"/>
                </a:solidFill>
                <a:latin typeface="Playfair Display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010924"/>
            <a:ext cx="3255264" cy="2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A7367"/>
                </a:solidFill>
                <a:latin typeface="Work Sans"/>
              </a:rPr>
              <a:t>[screenshot]</a:t>
            </a:r>
          </a:p>
        </p:txBody>
      </p:sp>
      <p:sp>
        <p:nvSpPr>
          <p:cNvPr id="26" name="TextBox 25"/>
          <p:cNvSpPr txBox="1"/>
          <p:nvPr/>
        </p:nvSpPr>
        <p:spPr>
          <a:xfrm rot="150000">
            <a:off x="521208" y="4471416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Dashboard</a:t>
            </a:r>
          </a:p>
        </p:txBody>
      </p:sp>
      <p:sp>
        <p:nvSpPr>
          <p:cNvPr id="27" name="Rectangle 26"/>
          <p:cNvSpPr/>
          <p:nvPr/>
        </p:nvSpPr>
        <p:spPr>
          <a:xfrm rot="2550000">
            <a:off x="1883664" y="3227832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1480000">
            <a:off x="4343400" y="3328416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1480000">
            <a:off x="4453128" y="3438144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6_eligi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4453128" y="3438144"/>
            <a:ext cx="3438144" cy="9875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 rot="21480000">
            <a:off x="4453128" y="4471416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Eligibility Analysis</a:t>
            </a:r>
          </a:p>
        </p:txBody>
      </p:sp>
      <p:sp>
        <p:nvSpPr>
          <p:cNvPr id="32" name="Rectangle 31"/>
          <p:cNvSpPr/>
          <p:nvPr/>
        </p:nvSpPr>
        <p:spPr>
          <a:xfrm rot="2280000">
            <a:off x="5815584" y="3227832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 rot="120000">
            <a:off x="8275320" y="3328416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120000">
            <a:off x="8385048" y="3438144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7_skillg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8385048" y="3438144"/>
            <a:ext cx="3438144" cy="9875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 rot="120000">
            <a:off x="8385048" y="4471416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Skill Gap Analysis</a:t>
            </a:r>
          </a:p>
        </p:txBody>
      </p:sp>
      <p:sp>
        <p:nvSpPr>
          <p:cNvPr id="37" name="Rectangle 36"/>
          <p:cNvSpPr/>
          <p:nvPr/>
        </p:nvSpPr>
        <p:spPr>
          <a:xfrm rot="2520000">
            <a:off x="9747504" y="3227832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510000">
            <a:off x="411480" y="4992624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1510000">
            <a:off x="521208" y="5102352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8_prepa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10000">
            <a:off x="521208" y="5102352"/>
            <a:ext cx="3438144" cy="9875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 rot="21510000">
            <a:off x="521208" y="6135624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Preparation Plan</a:t>
            </a:r>
          </a:p>
        </p:txBody>
      </p:sp>
      <p:sp>
        <p:nvSpPr>
          <p:cNvPr id="42" name="Rectangle 41"/>
          <p:cNvSpPr/>
          <p:nvPr/>
        </p:nvSpPr>
        <p:spPr>
          <a:xfrm rot="2310000">
            <a:off x="1883664" y="4892040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150000">
            <a:off x="4343400" y="4992624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150000">
            <a:off x="4453128" y="5102352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09_resu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0000">
            <a:off x="4453128" y="5102352"/>
            <a:ext cx="3438144" cy="98755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 rot="150000">
            <a:off x="4453128" y="6135624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Resume Upload</a:t>
            </a:r>
          </a:p>
        </p:txBody>
      </p:sp>
      <p:sp>
        <p:nvSpPr>
          <p:cNvPr id="47" name="Rectangle 46"/>
          <p:cNvSpPr/>
          <p:nvPr/>
        </p:nvSpPr>
        <p:spPr>
          <a:xfrm rot="2550000">
            <a:off x="5815584" y="4892040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21480000">
            <a:off x="8275320" y="4992624"/>
            <a:ext cx="365760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1480000">
            <a:off x="8385048" y="5102352"/>
            <a:ext cx="3438144" cy="987552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10_assista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480000">
            <a:off x="8385048" y="5102352"/>
            <a:ext cx="3438144" cy="98755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 rot="21480000">
            <a:off x="8385048" y="6135624"/>
            <a:ext cx="3438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AI Assistant</a:t>
            </a:r>
          </a:p>
        </p:txBody>
      </p:sp>
      <p:sp>
        <p:nvSpPr>
          <p:cNvPr id="52" name="Rectangle 51"/>
          <p:cNvSpPr/>
          <p:nvPr/>
        </p:nvSpPr>
        <p:spPr>
          <a:xfrm rot="2280000">
            <a:off x="9747504" y="4892040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06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WHAT IT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Value of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502920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411480" y="1600200"/>
            <a:ext cx="557784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480000">
            <a:off x="521208" y="1709928"/>
            <a:ext cx="5358384" cy="416966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83080"/>
            <a:ext cx="5175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5A8A"/>
                </a:solidFill>
                <a:latin typeface="Playfair Display"/>
              </a:rPr>
              <a:t>For Students  (Primary — Implemented)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212848"/>
            <a:ext cx="5175504" cy="12700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31720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One platform for all placement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715768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Clear eligibility status per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99816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Precise gap vs. missing info distinction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83864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Resume aligned to target role in AI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867912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Phase-based, structured preparation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51960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Natural language AI placement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636008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Conversation history for follow-up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20056"/>
            <a:ext cx="5175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Personalised — not generic advice</a:t>
            </a:r>
          </a:p>
        </p:txBody>
      </p:sp>
      <p:sp>
        <p:nvSpPr>
          <p:cNvPr id="19" name="TextBox 18"/>
          <p:cNvSpPr txBox="1"/>
          <p:nvPr/>
        </p:nvSpPr>
        <p:spPr>
          <a:xfrm rot="21480000">
            <a:off x="521208" y="5925312"/>
            <a:ext cx="5358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primary user value</a:t>
            </a:r>
          </a:p>
        </p:txBody>
      </p:sp>
      <p:sp>
        <p:nvSpPr>
          <p:cNvPr id="20" name="Rectangle 19"/>
          <p:cNvSpPr/>
          <p:nvPr/>
        </p:nvSpPr>
        <p:spPr>
          <a:xfrm rot="2280000">
            <a:off x="2843784" y="14996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20000">
            <a:off x="6309360" y="160020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20000">
            <a:off x="6419088" y="1709928"/>
            <a:ext cx="5266944" cy="4169664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783080"/>
            <a:ext cx="5084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7A5A"/>
                </a:solidFill>
                <a:latin typeface="Playfair Display"/>
              </a:rPr>
              <a:t>For Institutions  (Future Scope)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10528" y="2212848"/>
            <a:ext cx="5084064" cy="12700"/>
          </a:xfrm>
          <a:prstGeom prst="rect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331720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Centralised placement knowledge (RAG)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715768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Scalable AI guidance to entire cohort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099816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Consistent, knowledge-grounded advice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483864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Foundation for placement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867912"/>
            <a:ext cx="5084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A352E"/>
                </a:solidFill>
                <a:latin typeface="Work Sans"/>
              </a:rPr>
              <a:t>— Reduced manual counselling load</a:t>
            </a:r>
          </a:p>
        </p:txBody>
      </p:sp>
      <p:sp>
        <p:nvSpPr>
          <p:cNvPr id="30" name="TextBox 29"/>
          <p:cNvSpPr txBox="1"/>
          <p:nvPr/>
        </p:nvSpPr>
        <p:spPr>
          <a:xfrm rot="120000">
            <a:off x="6419088" y="5925312"/>
            <a:ext cx="5266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future institutional value</a:t>
            </a:r>
          </a:p>
        </p:txBody>
      </p:sp>
      <p:sp>
        <p:nvSpPr>
          <p:cNvPr id="31" name="Rectangle 30"/>
          <p:cNvSpPr/>
          <p:nvPr/>
        </p:nvSpPr>
        <p:spPr>
          <a:xfrm rot="2520000">
            <a:off x="8695944" y="149961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7367"/>
                </a:solidFill>
                <a:latin typeface="Work Sans"/>
              </a:rPr>
              <a:t>All benefits listed are qualitative — no performance benchmarks or statistics are claimed.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06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7A5A"/>
                </a:solidFill>
                <a:latin typeface="Work Sans"/>
              </a:rPr>
              <a:t>WHAT COMES NEXT  ·  FUTURE SCOPE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A352E"/>
                </a:solidFill>
                <a:latin typeface="Playfair Display"/>
              </a:rP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114800" cy="19050"/>
          </a:xfrm>
          <a:prstGeom prst="rect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C07A5A"/>
                </a:solidFill>
                <a:latin typeface="Playfair Display"/>
              </a:rPr>
              <a:t>None of the following are part of the current implemented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" y="2148840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148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Multi-Agent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865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Specialised AI agents per 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82512" y="2148840"/>
            <a:ext cx="411480" cy="411480"/>
          </a:xfrm>
          <a:prstGeom prst="ellipse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48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208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Advanced Resume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3865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AI quality &amp; role-alignment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62072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632" y="3044952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44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9169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Interview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826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Mock AI-generated interviews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862072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82512" y="3044952"/>
            <a:ext cx="411480" cy="411480"/>
          </a:xfrm>
          <a:prstGeom prst="ellipse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044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9169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7A5A"/>
                </a:solidFill>
                <a:latin typeface="Playfair Display"/>
              </a:rPr>
              <a:t>Recruiter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2826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Company-facing placement portal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58184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4632" y="3941064"/>
            <a:ext cx="411480" cy="411480"/>
          </a:xfrm>
          <a:prstGeom prst="ellipse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39410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Placement Cell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178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Cohort readiness &amp; skill distribution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758184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82512" y="3941064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9410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Voice 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1788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Speech-based placement chat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654296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4632" y="4837176"/>
            <a:ext cx="411480" cy="411480"/>
          </a:xfrm>
          <a:prstGeom prst="ellipse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48371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709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7A5A"/>
                </a:solidFill>
                <a:latin typeface="Playfair Display"/>
              </a:rPr>
              <a:t>Multi-University 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Cloud SaaS serving many institutions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4654296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82512" y="4837176"/>
            <a:ext cx="411480" cy="411480"/>
          </a:xfrm>
          <a:prstGeom prst="ellipse">
            <a:avLst/>
          </a:prstGeom>
          <a:solidFill>
            <a:srgbClr val="3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48371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7091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7A5A"/>
                </a:solidFill>
                <a:latin typeface="Playfair Display"/>
              </a:rPr>
              <a:t>Live Job API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5074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Real-time placement drive feeds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550408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84632" y="5733288"/>
            <a:ext cx="411480" cy="411480"/>
          </a:xfrm>
          <a:prstGeom prst="ellipse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5733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605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A8A"/>
                </a:solidFill>
                <a:latin typeface="Playfair Display"/>
              </a:rPr>
              <a:t>Learning Recommendations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9710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Curated resources per skill gap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5550408"/>
            <a:ext cx="55778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82512" y="5733288"/>
            <a:ext cx="411480" cy="411480"/>
          </a:xfrm>
          <a:prstGeom prst="ellipse">
            <a:avLst/>
          </a:prstGeom>
          <a:solidFill>
            <a:srgbClr val="C0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5733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layfair Display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605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7A5A"/>
                </a:solidFill>
                <a:latin typeface="Playfair Display"/>
              </a:rPr>
              <a:t>Interview Practice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59710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367"/>
                </a:solidFill>
                <a:latin typeface="Work Sans"/>
              </a:rPr>
              <a:t>Mock technical + HR interview rounds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7367"/>
                </a:solidFill>
                <a:latin typeface="Work Sans"/>
              </a:rPr>
              <a:t>06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7367"/>
                </a:solidFill>
                <a:latin typeface="Work Sans"/>
              </a:rPr>
              <a:t>WRAPPING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A352E"/>
                </a:solidFill>
                <a:latin typeface="Playfair Display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4114800" cy="2540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3A352E"/>
                </a:solidFill>
                <a:latin typeface="Work Sans"/>
              </a:rPr>
              <a:t>Campus Placement AI transforms fragmented placement information into a centralised, knowledge-grounded AI experience — helping students understand exactly where they stand, what information they are missing, and how to prepare.</a:t>
            </a:r>
          </a:p>
        </p:txBody>
      </p:sp>
      <p:sp>
        <p:nvSpPr>
          <p:cNvPr id="8" name="Rectangle 7"/>
          <p:cNvSpPr/>
          <p:nvPr/>
        </p:nvSpPr>
        <p:spPr>
          <a:xfrm rot="21480000">
            <a:off x="411480" y="2651760"/>
            <a:ext cx="217627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1480000">
            <a:off x="521208" y="2761488"/>
            <a:ext cx="1956816" cy="786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898648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A5A8A"/>
                </a:solidFill>
                <a:latin typeface="Playfair Display"/>
              </a:rPr>
              <a:t>Student</a:t>
            </a:r>
          </a:p>
          <a:p>
            <a:pPr algn="ctr"/>
            <a:r>
              <a:rPr sz="1250" b="1" i="0">
                <a:solidFill>
                  <a:srgbClr val="3A5A8A"/>
                </a:solidFill>
                <a:latin typeface="Playfair Display"/>
              </a:rPr>
              <a:t>Context</a:t>
            </a:r>
          </a:p>
        </p:txBody>
      </p:sp>
      <p:sp>
        <p:nvSpPr>
          <p:cNvPr id="11" name="Rectangle 10"/>
          <p:cNvSpPr/>
          <p:nvPr/>
        </p:nvSpPr>
        <p:spPr>
          <a:xfrm rot="2280000">
            <a:off x="1143000" y="255117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310896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4A03C"/>
                </a:solidFill>
                <a:latin typeface="Playfair Display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 rot="120000">
            <a:off x="2743200" y="2651760"/>
            <a:ext cx="217627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20000">
            <a:off x="2852928" y="2761488"/>
            <a:ext cx="1956816" cy="786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2898648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A7A5A"/>
                </a:solidFill>
                <a:latin typeface="Playfair Display"/>
              </a:rPr>
              <a:t>Resume</a:t>
            </a:r>
          </a:p>
          <a:p>
            <a:pPr algn="ctr"/>
            <a:r>
              <a:rPr sz="1250" b="1" i="0">
                <a:solidFill>
                  <a:srgbClr val="3A7A5A"/>
                </a:solidFill>
                <a:latin typeface="Playfair Display"/>
              </a:rPr>
              <a:t>Intelligence</a:t>
            </a:r>
          </a:p>
        </p:txBody>
      </p:sp>
      <p:sp>
        <p:nvSpPr>
          <p:cNvPr id="16" name="Rectangle 15"/>
          <p:cNvSpPr/>
          <p:nvPr/>
        </p:nvSpPr>
        <p:spPr>
          <a:xfrm rot="2520000">
            <a:off x="3474720" y="255117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310896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4A03C"/>
                </a:solidFill>
                <a:latin typeface="Playfair Display"/>
              </a:rPr>
              <a:t>+</a:t>
            </a:r>
          </a:p>
        </p:txBody>
      </p:sp>
      <p:sp>
        <p:nvSpPr>
          <p:cNvPr id="18" name="Rectangle 17"/>
          <p:cNvSpPr/>
          <p:nvPr/>
        </p:nvSpPr>
        <p:spPr>
          <a:xfrm rot="21450000">
            <a:off x="5074920" y="2651760"/>
            <a:ext cx="217627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450000">
            <a:off x="5184648" y="2761488"/>
            <a:ext cx="1956816" cy="786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2898648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07A5A"/>
                </a:solidFill>
                <a:latin typeface="Playfair Display"/>
              </a:rPr>
              <a:t>RAG</a:t>
            </a:r>
          </a:p>
          <a:p>
            <a:pPr algn="ctr"/>
            <a:r>
              <a:rPr sz="1250" b="1" i="0">
                <a:solidFill>
                  <a:srgbClr val="C07A5A"/>
                </a:solidFill>
                <a:latin typeface="Playfair Display"/>
              </a:rPr>
              <a:t>Knowledge</a:t>
            </a:r>
          </a:p>
        </p:txBody>
      </p:sp>
      <p:sp>
        <p:nvSpPr>
          <p:cNvPr id="21" name="Rectangle 20"/>
          <p:cNvSpPr/>
          <p:nvPr/>
        </p:nvSpPr>
        <p:spPr>
          <a:xfrm rot="2250000">
            <a:off x="5806440" y="255117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1192" y="310896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4A03C"/>
                </a:solidFill>
                <a:latin typeface="Playfair Display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 rot="120000">
            <a:off x="7406640" y="2651760"/>
            <a:ext cx="217627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20000">
            <a:off x="7516368" y="2761488"/>
            <a:ext cx="1956816" cy="786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2898648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4A03C"/>
                </a:solidFill>
                <a:latin typeface="Playfair Display"/>
              </a:rPr>
              <a:t>Azure AI</a:t>
            </a:r>
          </a:p>
          <a:p>
            <a:pPr algn="ctr"/>
            <a:r>
              <a:rPr sz="1250" b="1" i="0">
                <a:solidFill>
                  <a:srgbClr val="C4A03C"/>
                </a:solidFill>
                <a:latin typeface="Playfair Display"/>
              </a:rPr>
              <a:t>Foundry</a:t>
            </a:r>
          </a:p>
        </p:txBody>
      </p:sp>
      <p:sp>
        <p:nvSpPr>
          <p:cNvPr id="26" name="Rectangle 25"/>
          <p:cNvSpPr/>
          <p:nvPr/>
        </p:nvSpPr>
        <p:spPr>
          <a:xfrm rot="2520000">
            <a:off x="8138160" y="255117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3108960"/>
            <a:ext cx="155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4A03C"/>
                </a:solidFill>
                <a:latin typeface="Playfair Display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 rot="21510000">
            <a:off x="9738360" y="2651760"/>
            <a:ext cx="2176272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1510000">
            <a:off x="9848088" y="2761488"/>
            <a:ext cx="1956816" cy="786384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3808" y="2898648"/>
            <a:ext cx="186537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A5A8A"/>
                </a:solidFill>
                <a:latin typeface="Playfair Display"/>
              </a:rPr>
              <a:t>Personalised</a:t>
            </a:r>
          </a:p>
          <a:p>
            <a:pPr algn="ctr"/>
            <a:r>
              <a:rPr sz="1250" b="1" i="0">
                <a:solidFill>
                  <a:srgbClr val="3A5A8A"/>
                </a:solidFill>
                <a:latin typeface="Playfair Display"/>
              </a:rPr>
              <a:t>Analysis</a:t>
            </a:r>
          </a:p>
        </p:txBody>
      </p:sp>
      <p:sp>
        <p:nvSpPr>
          <p:cNvPr id="31" name="Rectangle 30"/>
          <p:cNvSpPr/>
          <p:nvPr/>
        </p:nvSpPr>
        <p:spPr>
          <a:xfrm rot="2310000">
            <a:off x="10469880" y="255117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4251960"/>
            <a:ext cx="373075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7A5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315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A7A5A"/>
                </a:solidFill>
                <a:latin typeface="Playfair Display"/>
              </a:rPr>
              <a:t>WHERE THEY STAND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3659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Eligibility per requirement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251960"/>
            <a:ext cx="373075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5A8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315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A5A8A"/>
                </a:solidFill>
                <a:latin typeface="Playfair Display"/>
              </a:rPr>
              <a:t>WHAT'S 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3659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Information gaps vs. confirmed skill gaps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4251960"/>
            <a:ext cx="3730752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7A5A"/>
            </a:solidFill>
          </a:ln>
          <a:effectLst>
            <a:outerShdw blurRad="50800" dist="38100" dir="2700000" algn="tl" rotWithShape="0">
              <a:srgbClr val="3A352E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315968"/>
            <a:ext cx="3456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7A5A"/>
                </a:solidFill>
                <a:latin typeface="Playfair Display"/>
              </a:rPr>
              <a:t>HOW TO PREPARE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736592"/>
            <a:ext cx="3456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7367"/>
                </a:solidFill>
                <a:latin typeface="Work Sans"/>
              </a:rPr>
              <a:t>Phase-based personalised plan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9418320" cy="1905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3A352E"/>
                </a:solidFill>
                <a:latin typeface="Playfair Display"/>
              </a:rPr>
              <a:t>"From placement information to placement intelligence."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4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7367"/>
                </a:solidFill>
                <a:latin typeface="Work Sans"/>
              </a:rPr>
              <a:t>23 /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3A352E"/>
                </a:solidFill>
                <a:latin typeface="Playfair Display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240280"/>
            <a:ext cx="8503920" cy="25400"/>
          </a:xfrm>
          <a:prstGeom prst="rect">
            <a:avLst/>
          </a:prstGeom>
          <a:solidFill>
            <a:srgbClr val="C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23160"/>
            <a:ext cx="9418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7A7367"/>
                </a:solidFill>
                <a:latin typeface="Playfair Display"/>
              </a:rPr>
              <a:t>Questions  &amp;  Discussion</a:t>
            </a:r>
          </a:p>
        </p:txBody>
      </p:sp>
      <p:sp>
        <p:nvSpPr>
          <p:cNvPr id="6" name="Rectangle 5"/>
          <p:cNvSpPr/>
          <p:nvPr/>
        </p:nvSpPr>
        <p:spPr>
          <a:xfrm rot="21480000">
            <a:off x="411480" y="3429000"/>
            <a:ext cx="2240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521208" y="3538728"/>
            <a:ext cx="2020824" cy="1609344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3699662"/>
            <a:ext cx="20208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7A5A"/>
                </a:solidFill>
                <a:latin typeface="Playfair Display"/>
              </a:rPr>
              <a:t>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84801"/>
            <a:ext cx="1929384" cy="354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352E"/>
                </a:solidFill>
                <a:latin typeface="Work Sans"/>
              </a:rPr>
              <a:t>Harsh Mangla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06670"/>
            <a:ext cx="1929384" cy="28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7367"/>
                </a:solidFill>
                <a:latin typeface="Work Sans"/>
              </a:rPr>
              <a:t>2410992927</a:t>
            </a:r>
          </a:p>
        </p:txBody>
      </p:sp>
      <p:sp>
        <p:nvSpPr>
          <p:cNvPr id="11" name="TextBox 10"/>
          <p:cNvSpPr txBox="1"/>
          <p:nvPr/>
        </p:nvSpPr>
        <p:spPr>
          <a:xfrm rot="21480000">
            <a:off x="521208" y="519379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Harsh Mangla</a:t>
            </a:r>
          </a:p>
        </p:txBody>
      </p:sp>
      <p:sp>
        <p:nvSpPr>
          <p:cNvPr id="12" name="Rectangle 11"/>
          <p:cNvSpPr/>
          <p:nvPr/>
        </p:nvSpPr>
        <p:spPr>
          <a:xfrm rot="2280000">
            <a:off x="1175004" y="332841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">
            <a:off x="2770632" y="3429000"/>
            <a:ext cx="2240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20000">
            <a:off x="2880360" y="3538728"/>
            <a:ext cx="2020824" cy="1609344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3699662"/>
            <a:ext cx="20208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7A5A"/>
                </a:solidFill>
                <a:latin typeface="Playfair Display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84801"/>
            <a:ext cx="1929384" cy="354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352E"/>
                </a:solidFill>
                <a:latin typeface="Work Sans"/>
              </a:rPr>
              <a:t>Nipun Kalra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906670"/>
            <a:ext cx="1929384" cy="28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7367"/>
                </a:solidFill>
                <a:latin typeface="Work Sans"/>
              </a:rPr>
              <a:t>2410993431</a:t>
            </a:r>
          </a:p>
        </p:txBody>
      </p:sp>
      <p:sp>
        <p:nvSpPr>
          <p:cNvPr id="18" name="TextBox 17"/>
          <p:cNvSpPr txBox="1"/>
          <p:nvPr/>
        </p:nvSpPr>
        <p:spPr>
          <a:xfrm rot="120000">
            <a:off x="2880360" y="519379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Nipun Kalra</a:t>
            </a:r>
          </a:p>
        </p:txBody>
      </p:sp>
      <p:sp>
        <p:nvSpPr>
          <p:cNvPr id="19" name="Rectangle 18"/>
          <p:cNvSpPr/>
          <p:nvPr/>
        </p:nvSpPr>
        <p:spPr>
          <a:xfrm rot="2520000">
            <a:off x="3534156" y="33284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1450000">
            <a:off x="5129784" y="3429000"/>
            <a:ext cx="2240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1450000">
            <a:off x="5239512" y="3538728"/>
            <a:ext cx="2020824" cy="1609344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3699662"/>
            <a:ext cx="20208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7A5A"/>
                </a:solidFill>
                <a:latin typeface="Playfair Display"/>
              </a:rP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4584801"/>
            <a:ext cx="1929384" cy="354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352E"/>
                </a:solidFill>
                <a:latin typeface="Work Sans"/>
              </a:rPr>
              <a:t>Vineet Kumar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4906670"/>
            <a:ext cx="1929384" cy="28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7367"/>
                </a:solidFill>
                <a:latin typeface="Work Sans"/>
              </a:rPr>
              <a:t>2410993244</a:t>
            </a:r>
          </a:p>
        </p:txBody>
      </p:sp>
      <p:sp>
        <p:nvSpPr>
          <p:cNvPr id="25" name="TextBox 24"/>
          <p:cNvSpPr txBox="1"/>
          <p:nvPr/>
        </p:nvSpPr>
        <p:spPr>
          <a:xfrm rot="21450000">
            <a:off x="5239512" y="519379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Vineet Kumar</a:t>
            </a:r>
          </a:p>
        </p:txBody>
      </p:sp>
      <p:sp>
        <p:nvSpPr>
          <p:cNvPr id="26" name="Rectangle 25"/>
          <p:cNvSpPr/>
          <p:nvPr/>
        </p:nvSpPr>
        <p:spPr>
          <a:xfrm rot="2250000">
            <a:off x="5893308" y="3328416"/>
            <a:ext cx="713232" cy="201168"/>
          </a:xfrm>
          <a:prstGeom prst="rect">
            <a:avLst/>
          </a:prstGeom>
          <a:solidFill>
            <a:srgbClr val="E9C46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20000">
            <a:off x="7488936" y="3429000"/>
            <a:ext cx="2240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20000">
            <a:off x="7598664" y="3538728"/>
            <a:ext cx="2020824" cy="1609344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3699662"/>
            <a:ext cx="20208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7A5A"/>
                </a:solidFill>
                <a:latin typeface="Playfair Display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4" y="4584801"/>
            <a:ext cx="1929384" cy="354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352E"/>
                </a:solidFill>
                <a:latin typeface="Work Sans"/>
              </a:rPr>
              <a:t>Ayush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4" y="4906670"/>
            <a:ext cx="1929384" cy="28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7367"/>
                </a:solidFill>
                <a:latin typeface="Work Sans"/>
              </a:rPr>
              <a:t>2410993139</a:t>
            </a:r>
          </a:p>
        </p:txBody>
      </p:sp>
      <p:sp>
        <p:nvSpPr>
          <p:cNvPr id="32" name="TextBox 31"/>
          <p:cNvSpPr txBox="1"/>
          <p:nvPr/>
        </p:nvSpPr>
        <p:spPr>
          <a:xfrm rot="120000">
            <a:off x="7598664" y="519379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Ayush</a:t>
            </a:r>
          </a:p>
        </p:txBody>
      </p:sp>
      <p:sp>
        <p:nvSpPr>
          <p:cNvPr id="33" name="Rectangle 32"/>
          <p:cNvSpPr/>
          <p:nvPr/>
        </p:nvSpPr>
        <p:spPr>
          <a:xfrm rot="2520000">
            <a:off x="8252460" y="3328416"/>
            <a:ext cx="713232" cy="201168"/>
          </a:xfrm>
          <a:prstGeom prst="rect">
            <a:avLst/>
          </a:prstGeom>
          <a:solidFill>
            <a:srgbClr val="F4A6A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1510000">
            <a:off x="9848088" y="3429000"/>
            <a:ext cx="22402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50800" dir="2700000" algn="tl" rotWithShape="0">
              <a:srgbClr val="3A35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1510000">
            <a:off x="9957816" y="3538728"/>
            <a:ext cx="2020824" cy="1609344"/>
          </a:xfrm>
          <a:prstGeom prst="rect">
            <a:avLst/>
          </a:prstGeom>
          <a:solidFill>
            <a:srgbClr val="F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57816" y="3699662"/>
            <a:ext cx="20208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07A5A"/>
                </a:solidFill>
                <a:latin typeface="Playfair Display"/>
              </a:rP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3536" y="4584801"/>
            <a:ext cx="1929384" cy="354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A352E"/>
                </a:solidFill>
                <a:latin typeface="Work Sans"/>
              </a:rPr>
              <a:t>Pranav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3536" y="4906670"/>
            <a:ext cx="1929384" cy="289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7367"/>
                </a:solidFill>
                <a:latin typeface="Work Sans"/>
              </a:rPr>
              <a:t>2410992960</a:t>
            </a:r>
          </a:p>
        </p:txBody>
      </p:sp>
      <p:sp>
        <p:nvSpPr>
          <p:cNvPr id="39" name="TextBox 38"/>
          <p:cNvSpPr txBox="1"/>
          <p:nvPr/>
        </p:nvSpPr>
        <p:spPr>
          <a:xfrm rot="21510000">
            <a:off x="9957816" y="519379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7A7367"/>
                </a:solidFill>
                <a:latin typeface="Playfair Display"/>
              </a:rPr>
              <a:t>Pranav</a:t>
            </a:r>
          </a:p>
        </p:txBody>
      </p:sp>
      <p:sp>
        <p:nvSpPr>
          <p:cNvPr id="40" name="Rectangle 39"/>
          <p:cNvSpPr/>
          <p:nvPr/>
        </p:nvSpPr>
        <p:spPr>
          <a:xfrm rot="2310000">
            <a:off x="10611612" y="3328416"/>
            <a:ext cx="713232" cy="201168"/>
          </a:xfrm>
          <a:prstGeom prst="rect">
            <a:avLst/>
          </a:prstGeom>
          <a:solidFill>
            <a:srgbClr val="9EC3B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89788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A7367"/>
                </a:solidFill>
                <a:latin typeface="Work Sans"/>
              </a:rPr>
              <a:t>CHITKARA UNIVERSITY, RAJPURA  ·  B.E. AI &amp; ML  ·  Campus Placement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5105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7A7367"/>
                </a:solidFill>
                <a:latin typeface="Work San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