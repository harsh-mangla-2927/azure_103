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111111"/>
                </a:solidFill>
                <a:latin typeface="Permanent Marker"/>
              </a:rPr>
              <a:t>Campus Placement AI</a:t>
            </a:r>
          </a:p>
        </p:txBody>
      </p:sp>
      <p:sp>
        <p:nvSpPr>
          <p:cNvPr id="4" name="Rectangle 3"/>
          <p:cNvSpPr/>
          <p:nvPr/>
        </p:nvSpPr>
        <p:spPr>
          <a:xfrm rot="108000">
            <a:off x="914400" y="2369312"/>
            <a:ext cx="580571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492000">
            <a:off x="1469571" y="2378202"/>
            <a:ext cx="580571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08000">
            <a:off x="2024742" y="2369312"/>
            <a:ext cx="580571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92000">
            <a:off x="2579913" y="2359152"/>
            <a:ext cx="580571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">
            <a:off x="3135084" y="2348992"/>
            <a:ext cx="580571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1492000">
            <a:off x="3690255" y="2340102"/>
            <a:ext cx="580571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08000">
            <a:off x="4245426" y="2348992"/>
            <a:ext cx="580571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1492000">
            <a:off x="4800597" y="2359152"/>
            <a:ext cx="580571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08000">
            <a:off x="5355768" y="2369312"/>
            <a:ext cx="580571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1492000">
            <a:off x="5910939" y="2378202"/>
            <a:ext cx="580571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08000">
            <a:off x="6466110" y="2369312"/>
            <a:ext cx="580571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1492000">
            <a:off x="7021281" y="2359152"/>
            <a:ext cx="580571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108000">
            <a:off x="7576452" y="2348992"/>
            <a:ext cx="580571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1492000">
            <a:off x="8131623" y="2340102"/>
            <a:ext cx="580571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14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B6B66"/>
                </a:solidFill>
                <a:latin typeface="Quicksand"/>
              </a:rPr>
              <a:t>AI-Powered Placement Intelligence</a:t>
            </a:r>
          </a:p>
        </p:txBody>
      </p:sp>
      <p:sp>
        <p:nvSpPr>
          <p:cNvPr id="19" name="Rectangle 18"/>
          <p:cNvSpPr/>
          <p:nvPr/>
        </p:nvSpPr>
        <p:spPr>
          <a:xfrm rot="90000">
            <a:off x="914400" y="3246120"/>
            <a:ext cx="1920240" cy="914400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100" b="0">
                <a:solidFill>
                  <a:srgbClr val="111111"/>
                </a:solidFill>
                <a:latin typeface="Kalam"/>
              </a:rPr>
              <a:t>team member 1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[roll no]</a:t>
            </a:r>
          </a:p>
        </p:txBody>
      </p:sp>
      <p:sp>
        <p:nvSpPr>
          <p:cNvPr id="20" name="Rectangle 19"/>
          <p:cNvSpPr/>
          <p:nvPr/>
        </p:nvSpPr>
        <p:spPr>
          <a:xfrm rot="21480000">
            <a:off x="3017520" y="3154680"/>
            <a:ext cx="1920240" cy="914400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100" b="0">
                <a:solidFill>
                  <a:srgbClr val="111111"/>
                </a:solidFill>
                <a:latin typeface="Kalam"/>
              </a:rPr>
              <a:t>team member 2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[roll no]</a:t>
            </a:r>
          </a:p>
        </p:txBody>
      </p:sp>
      <p:sp>
        <p:nvSpPr>
          <p:cNvPr id="21" name="Rectangle 20"/>
          <p:cNvSpPr/>
          <p:nvPr/>
        </p:nvSpPr>
        <p:spPr>
          <a:xfrm rot="150000">
            <a:off x="5120640" y="3291840"/>
            <a:ext cx="1920240" cy="914400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100" b="0">
                <a:solidFill>
                  <a:srgbClr val="111111"/>
                </a:solidFill>
                <a:latin typeface="Kalam"/>
              </a:rPr>
              <a:t>team member 3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[roll no]</a:t>
            </a:r>
          </a:p>
        </p:txBody>
      </p:sp>
      <p:sp>
        <p:nvSpPr>
          <p:cNvPr id="22" name="Rectangle 21"/>
          <p:cNvSpPr/>
          <p:nvPr/>
        </p:nvSpPr>
        <p:spPr>
          <a:xfrm rot="21510000">
            <a:off x="7178040" y="3108960"/>
            <a:ext cx="1920240" cy="914400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100" b="0">
                <a:solidFill>
                  <a:srgbClr val="111111"/>
                </a:solidFill>
                <a:latin typeface="Kalam"/>
              </a:rPr>
              <a:t>team member 4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[roll no]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6"/>
                </a:solidFill>
                <a:latin typeface="Quicksand"/>
              </a:rPr>
              <a:t>Faculty: [Mentor Name]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6"/>
                </a:solidFill>
                <a:latin typeface="Quicksand"/>
              </a:rPr>
              <a:t>[University Name]  ·  [Department]  ·  Final Year Project 2025–26</a:t>
            </a:r>
          </a:p>
        </p:txBody>
      </p:sp>
      <p:sp>
        <p:nvSpPr>
          <p:cNvPr id="25" name="Rectangle 24"/>
          <p:cNvSpPr/>
          <p:nvPr/>
        </p:nvSpPr>
        <p:spPr>
          <a:xfrm rot="21480000">
            <a:off x="9418320" y="1188720"/>
            <a:ext cx="2286000" cy="1005840"/>
          </a:xfrm>
          <a:prstGeom prst="rect">
            <a:avLst/>
          </a:prstGeom>
          <a:solidFill>
            <a:srgbClr val="BAFEFE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00" b="0">
                <a:solidFill>
                  <a:srgbClr val="111111"/>
                </a:solidFill>
                <a:latin typeface="Kalam"/>
              </a:rPr>
              <a:t>powered by</a:t>
            </a:r>
          </a:p>
          <a:p>
            <a:r>
              <a:rPr sz="1000" b="0">
                <a:solidFill>
                  <a:srgbClr val="111111"/>
                </a:solidFill>
                <a:latin typeface="Kalam"/>
              </a:rPr>
              <a:t>Azure AI Foundry 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212080"/>
            <a:ext cx="10332720" cy="19050"/>
          </a:xfrm>
          <a:prstGeom prst="rect">
            <a:avLst/>
          </a:prstGeom>
          <a:solidFill>
            <a:srgbClr val="E3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492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campus placement ai  ·  final year project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Quicksand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7404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05840" y="1143762"/>
            <a:ext cx="57404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554480" y="1134872"/>
            <a:ext cx="57404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103120" y="1124712"/>
            <a:ext cx="57404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651760" y="1114552"/>
            <a:ext cx="57404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200400" y="1105662"/>
            <a:ext cx="57404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749040" y="1114552"/>
            <a:ext cx="57404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297680" y="1124712"/>
            <a:ext cx="57404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08000">
            <a:off x="4846320" y="1134872"/>
            <a:ext cx="57404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492000">
            <a:off x="5394960" y="1143762"/>
            <a:ext cx="57404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280160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Campus Placement AI is a web platform where students build their complete placement profile, upload their resume, and get AI-powered eligibility checks, skill gap analysis, preparation plans, and chat assistance — all grounded in a RAG knowledge base via Azure AI Foundry.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68880"/>
            <a:ext cx="1920240" cy="594360"/>
          </a:xfrm>
          <a:prstGeom prst="roundRect">
            <a:avLst/>
          </a:prstGeom>
          <a:solidFill>
            <a:srgbClr val="F4F4F0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14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563EB"/>
                </a:solidFill>
                <a:latin typeface="Permanent Marker"/>
              </a:rPr>
              <a:t>Student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57860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6040" y="2468880"/>
            <a:ext cx="1920240" cy="594360"/>
          </a:xfrm>
          <a:prstGeom prst="roundRect">
            <a:avLst/>
          </a:prstGeom>
          <a:solidFill>
            <a:srgbClr val="F4F4F0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2514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6A34A"/>
                </a:solidFill>
                <a:latin typeface="Permanent Marker"/>
              </a:rPr>
              <a:t>Resume Upload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57860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2468880"/>
            <a:ext cx="1920240" cy="594360"/>
          </a:xfrm>
          <a:prstGeom prst="roundRect">
            <a:avLst/>
          </a:prstGeom>
          <a:solidFill>
            <a:srgbClr val="F4F4F0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514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563EB"/>
                </a:solidFill>
                <a:latin typeface="Permanent Marker"/>
              </a:rPr>
              <a:t>Target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7860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2468880"/>
            <a:ext cx="1920240" cy="594360"/>
          </a:xfrm>
          <a:prstGeom prst="roundRect">
            <a:avLst/>
          </a:prstGeom>
          <a:solidFill>
            <a:srgbClr val="F4F4F0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2514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Permanent Marker"/>
              </a:rPr>
              <a:t>Azure AI Foundry +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57860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2468880"/>
            <a:ext cx="1920240" cy="594360"/>
          </a:xfrm>
          <a:prstGeom prst="roundRect">
            <a:avLst/>
          </a:prstGeom>
          <a:solidFill>
            <a:srgbClr val="F4F4F0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2514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6A34A"/>
                </a:solidFill>
                <a:latin typeface="Permanent Marker"/>
              </a:rPr>
              <a:t>Analysis Results</a:t>
            </a:r>
          </a:p>
        </p:txBody>
      </p:sp>
      <p:sp>
        <p:nvSpPr>
          <p:cNvPr id="30" name="Rectangle 29"/>
          <p:cNvSpPr/>
          <p:nvPr/>
        </p:nvSpPr>
        <p:spPr>
          <a:xfrm rot="120000">
            <a:off x="457200" y="3337560"/>
            <a:ext cx="2468880" cy="914400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100" b="0">
                <a:solidFill>
                  <a:srgbClr val="111111"/>
                </a:solidFill>
                <a:latin typeface="Kalam"/>
              </a:rPr>
              <a:t>eligibility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analysis ✓</a:t>
            </a:r>
          </a:p>
        </p:txBody>
      </p:sp>
      <p:sp>
        <p:nvSpPr>
          <p:cNvPr id="31" name="Rectangle 30"/>
          <p:cNvSpPr/>
          <p:nvPr/>
        </p:nvSpPr>
        <p:spPr>
          <a:xfrm rot="21510000">
            <a:off x="3291840" y="3337560"/>
            <a:ext cx="2468880" cy="914400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100" b="0">
                <a:solidFill>
                  <a:srgbClr val="111111"/>
                </a:solidFill>
                <a:latin typeface="Kalam"/>
              </a:rPr>
              <a:t>skill gap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analysis 🔍</a:t>
            </a:r>
          </a:p>
        </p:txBody>
      </p:sp>
      <p:sp>
        <p:nvSpPr>
          <p:cNvPr id="32" name="Rectangle 31"/>
          <p:cNvSpPr/>
          <p:nvPr/>
        </p:nvSpPr>
        <p:spPr>
          <a:xfrm rot="150000">
            <a:off x="6126480" y="3337560"/>
            <a:ext cx="2468880" cy="914400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100" b="0">
                <a:solidFill>
                  <a:srgbClr val="111111"/>
                </a:solidFill>
                <a:latin typeface="Kalam"/>
              </a:rPr>
              <a:t>preparation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plan 📋</a:t>
            </a:r>
          </a:p>
        </p:txBody>
      </p:sp>
      <p:sp>
        <p:nvSpPr>
          <p:cNvPr id="33" name="Rectangle 32"/>
          <p:cNvSpPr/>
          <p:nvPr/>
        </p:nvSpPr>
        <p:spPr>
          <a:xfrm rot="21480000">
            <a:off x="8961120" y="3337560"/>
            <a:ext cx="2468880" cy="914400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100" b="0">
                <a:solidFill>
                  <a:srgbClr val="111111"/>
                </a:solidFill>
                <a:latin typeface="Kalam"/>
              </a:rPr>
              <a:t>AI assistant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chat 💬</a:t>
            </a:r>
          </a:p>
        </p:txBody>
      </p:sp>
      <p:sp>
        <p:nvSpPr>
          <p:cNvPr id="34" name="Rectangle 33"/>
          <p:cNvSpPr/>
          <p:nvPr/>
        </p:nvSpPr>
        <p:spPr>
          <a:xfrm rot="120000">
            <a:off x="9509760" y="1188720"/>
            <a:ext cx="2331720" cy="1463040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00" b="0">
                <a:solidFill>
                  <a:srgbClr val="111111"/>
                </a:solidFill>
                <a:latin typeface="Kalam"/>
              </a:rPr>
              <a:t>key idea:</a:t>
            </a:r>
          </a:p>
          <a:p>
            <a:r>
              <a:rPr sz="1000" b="0">
                <a:solidFill>
                  <a:srgbClr val="111111"/>
                </a:solidFill>
                <a:latin typeface="Kalam"/>
              </a:rPr>
              <a:t>all analysis is</a:t>
            </a:r>
          </a:p>
          <a:p>
            <a:r>
              <a:rPr sz="1000" b="0">
                <a:solidFill>
                  <a:srgbClr val="111111"/>
                </a:solidFill>
                <a:latin typeface="Kalam"/>
              </a:rPr>
              <a:t>KNOWLEDGE-GROUNDED</a:t>
            </a:r>
          </a:p>
          <a:p>
            <a:r>
              <a:rPr sz="1000" b="0">
                <a:solidFill>
                  <a:srgbClr val="111111"/>
                </a:solidFill>
                <a:latin typeface="Kalam"/>
              </a:rPr>
              <a:t>(not generic AI)</a:t>
            </a:r>
          </a:p>
        </p:txBody>
      </p:sp>
      <p:sp>
        <p:nvSpPr>
          <p:cNvPr id="35" name="Oval 34"/>
          <p:cNvSpPr/>
          <p:nvPr/>
        </p:nvSpPr>
        <p:spPr>
          <a:xfrm rot="21420000">
            <a:off x="9646920" y="1856231"/>
            <a:ext cx="2029968" cy="347472"/>
          </a:xfrm>
          <a:prstGeom prst="ellipse">
            <a:avLst/>
          </a:prstGeom>
          <a:noFill/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built with: React · Express · SQLite · @azure/ai-projects · gpt-4.1-mini · DefaultAzureCredential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Quicksand"/>
              </a:rPr>
              <a:t>WHY WE BUILT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The Problem Students Face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588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990600" y="1143762"/>
            <a:ext cx="5588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524000" y="1134872"/>
            <a:ext cx="5588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057400" y="1124712"/>
            <a:ext cx="5588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590800" y="1114552"/>
            <a:ext cx="5588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124200" y="1105662"/>
            <a:ext cx="5588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657600" y="1114552"/>
            <a:ext cx="5588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191000" y="1124712"/>
            <a:ext cx="5588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08000">
            <a:off x="4724400" y="1134872"/>
            <a:ext cx="5588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492000">
            <a:off x="5257800" y="1143762"/>
            <a:ext cx="5588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08000">
            <a:off x="5791200" y="1134872"/>
            <a:ext cx="5588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1492000">
            <a:off x="6324600" y="1124712"/>
            <a:ext cx="5588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" y="1417320"/>
            <a:ext cx="5486400" cy="114300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490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  <a:latin typeface="Permanent Marker"/>
              </a:rPr>
              <a:t>Information Fragmentation</a:t>
            </a:r>
          </a:p>
        </p:txBody>
      </p:sp>
      <p:sp>
        <p:nvSpPr>
          <p:cNvPr id="19" name="Rectangle 18"/>
          <p:cNvSpPr/>
          <p:nvPr/>
        </p:nvSpPr>
        <p:spPr>
          <a:xfrm rot="108000">
            <a:off x="548640" y="189382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1492000">
            <a:off x="1417320" y="190271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108000">
            <a:off x="2286000" y="189382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1492000">
            <a:off x="3154680" y="188366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108000">
            <a:off x="4023360" y="187350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1492000">
            <a:off x="4892040" y="186461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196596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Placement criteria scattered across notices, PDFs, emails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417320"/>
            <a:ext cx="5486400" cy="114300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490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No Personalization</a:t>
            </a:r>
          </a:p>
        </p:txBody>
      </p:sp>
      <p:sp>
        <p:nvSpPr>
          <p:cNvPr id="28" name="Rectangle 27"/>
          <p:cNvSpPr/>
          <p:nvPr/>
        </p:nvSpPr>
        <p:spPr>
          <a:xfrm rot="108000">
            <a:off x="6400800" y="189382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1492000">
            <a:off x="7269480" y="190271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108000">
            <a:off x="8138160" y="189382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21492000">
            <a:off x="9006840" y="188366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108000">
            <a:off x="9875520" y="187350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21492000">
            <a:off x="10744200" y="186461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196596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Generic tips not tailored to individual profiles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2697480"/>
            <a:ext cx="5486400" cy="114300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7706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Permanent Marker"/>
              </a:rPr>
              <a:t>Manual Comparison</a:t>
            </a:r>
          </a:p>
        </p:txBody>
      </p:sp>
      <p:sp>
        <p:nvSpPr>
          <p:cNvPr id="37" name="Rectangle 36"/>
          <p:cNvSpPr/>
          <p:nvPr/>
        </p:nvSpPr>
        <p:spPr>
          <a:xfrm rot="108000">
            <a:off x="548640" y="317398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1492000">
            <a:off x="1417320" y="318287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108000">
            <a:off x="2286000" y="317398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21492000">
            <a:off x="3154680" y="316382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 rot="108000">
            <a:off x="4023360" y="315366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1492000">
            <a:off x="4892040" y="314477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324612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Students manually match profile vs. eligibility criteria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2697480"/>
            <a:ext cx="5486400" cy="114300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27706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  <a:latin typeface="Permanent Marker"/>
              </a:rPr>
              <a:t>Skill Gap Blindness</a:t>
            </a:r>
          </a:p>
        </p:txBody>
      </p:sp>
      <p:sp>
        <p:nvSpPr>
          <p:cNvPr id="46" name="Rectangle 45"/>
          <p:cNvSpPr/>
          <p:nvPr/>
        </p:nvSpPr>
        <p:spPr>
          <a:xfrm rot="108000">
            <a:off x="6400800" y="317398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 rot="21492000">
            <a:off x="7269480" y="318287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108000">
            <a:off x="8138160" y="317398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1492000">
            <a:off x="9006840" y="316382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108000">
            <a:off x="9875520" y="315366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 rot="21492000">
            <a:off x="10744200" y="314477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324612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No clear view of which skills are missing vs. possessed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3977640"/>
            <a:ext cx="5486400" cy="114300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050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Resume Misalignment</a:t>
            </a:r>
          </a:p>
        </p:txBody>
      </p:sp>
      <p:sp>
        <p:nvSpPr>
          <p:cNvPr id="55" name="Rectangle 54"/>
          <p:cNvSpPr/>
          <p:nvPr/>
        </p:nvSpPr>
        <p:spPr>
          <a:xfrm rot="108000">
            <a:off x="548640" y="445414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 rot="21492000">
            <a:off x="1417320" y="446303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 rot="108000">
            <a:off x="2286000" y="445414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 rot="21492000">
            <a:off x="3154680" y="444398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 rot="108000">
            <a:off x="4023360" y="443382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 rot="21492000">
            <a:off x="4892040" y="442493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45262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Resume not compared against specific target role needs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63640" y="3977640"/>
            <a:ext cx="5486400" cy="114300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4050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Permanent Marker"/>
              </a:rPr>
              <a:t>No Central Intelligence</a:t>
            </a:r>
          </a:p>
        </p:txBody>
      </p:sp>
      <p:sp>
        <p:nvSpPr>
          <p:cNvPr id="64" name="Rectangle 63"/>
          <p:cNvSpPr/>
          <p:nvPr/>
        </p:nvSpPr>
        <p:spPr>
          <a:xfrm rot="108000">
            <a:off x="6400800" y="445414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 rot="21492000">
            <a:off x="7269480" y="446303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 rot="108000">
            <a:off x="8138160" y="445414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 rot="21492000">
            <a:off x="9006840" y="444398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 rot="108000">
            <a:off x="9875520" y="443382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 rot="21492000">
            <a:off x="10744200" y="442493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46520" y="45262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No single place combining profile, resume, and AI guidance</a:t>
            </a:r>
          </a:p>
        </p:txBody>
      </p:sp>
      <p:sp>
        <p:nvSpPr>
          <p:cNvPr id="71" name="Rectangle 70"/>
          <p:cNvSpPr/>
          <p:nvPr/>
        </p:nvSpPr>
        <p:spPr>
          <a:xfrm rot="21480000">
            <a:off x="9692640" y="1325880"/>
            <a:ext cx="2148840" cy="1463040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result: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students prepare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blindly &amp;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inefficiently 😓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7132320" y="2377440"/>
            <a:ext cx="2651760" cy="822960"/>
          </a:xfrm>
          <a:prstGeom prst="curvedConnector3">
            <a:avLst/>
          </a:prstGeom>
          <a:ln w="2286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6"/>
                </a:solidFill>
                <a:latin typeface="Quicksand"/>
              </a:rPr>
              <a:t>this is the gap our platform directly addresses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Quicksand"/>
              </a:rPr>
              <a:t>STATUS QUO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How Students Prepare Today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65727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997527" y="1143762"/>
            <a:ext cx="565727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537854" y="1134872"/>
            <a:ext cx="565727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078181" y="1124712"/>
            <a:ext cx="565727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618508" y="1114552"/>
            <a:ext cx="565727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158835" y="1105662"/>
            <a:ext cx="565727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699162" y="1114552"/>
            <a:ext cx="565727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239489" y="1124712"/>
            <a:ext cx="565727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08000">
            <a:off x="4779816" y="1134872"/>
            <a:ext cx="565727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492000">
            <a:off x="5320143" y="1143762"/>
            <a:ext cx="565727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08000">
            <a:off x="5860470" y="1134872"/>
            <a:ext cx="565727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3716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Quicksand"/>
              </a:rPr>
              <a:t>1  Search for company eligibility criteria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956816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Quicksand"/>
              </a:rPr>
              <a:t>2  Read PDFs, notices, college announcements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4203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Quicksand"/>
              </a:rPr>
              <a:t>3  Manually check CGPA / backlog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2724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Quicksand"/>
              </a:rPr>
              <a:t>4  Compare own skills to job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12464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Quicksand"/>
              </a:rPr>
              <a:t>5  Read resume without role-specific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Quicksand"/>
              </a:rPr>
              <a:t>6  Search for generic preparation advice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82896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Quicksand"/>
              </a:rPr>
              <a:t>7  Prepare — often missing key requirements</a:t>
            </a:r>
          </a:p>
        </p:txBody>
      </p:sp>
      <p:sp>
        <p:nvSpPr>
          <p:cNvPr id="23" name="Rectangle 22"/>
          <p:cNvSpPr/>
          <p:nvPr/>
        </p:nvSpPr>
        <p:spPr>
          <a:xfrm rot="120000">
            <a:off x="7498079" y="1463040"/>
            <a:ext cx="1920240" cy="1463040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time-consuming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⏱ hours per company</a:t>
            </a:r>
          </a:p>
        </p:txBody>
      </p:sp>
      <p:sp>
        <p:nvSpPr>
          <p:cNvPr id="24" name="Rectangle 23"/>
          <p:cNvSpPr/>
          <p:nvPr/>
        </p:nvSpPr>
        <p:spPr>
          <a:xfrm rot="21510000">
            <a:off x="9692639" y="1463040"/>
            <a:ext cx="1920240" cy="1463040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error-prone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✗ easy to miss criteria</a:t>
            </a:r>
          </a:p>
        </p:txBody>
      </p:sp>
      <p:sp>
        <p:nvSpPr>
          <p:cNvPr id="25" name="Rectangle 24"/>
          <p:cNvSpPr/>
          <p:nvPr/>
        </p:nvSpPr>
        <p:spPr>
          <a:xfrm rot="150000">
            <a:off x="7498079" y="3291840"/>
            <a:ext cx="1920240" cy="1463040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not scalable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✗ hard to compare many</a:t>
            </a:r>
          </a:p>
        </p:txBody>
      </p:sp>
      <p:sp>
        <p:nvSpPr>
          <p:cNvPr id="26" name="Rectangle 25"/>
          <p:cNvSpPr/>
          <p:nvPr/>
        </p:nvSpPr>
        <p:spPr>
          <a:xfrm rot="21480000">
            <a:off x="9692639" y="3291840"/>
            <a:ext cx="1920240" cy="1463040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no context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✗ resume ≠ role-matched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6"/>
                </a:solidFill>
                <a:latin typeface="Quicksand"/>
              </a:rPr>
              <a:t>the manual process is fragmented, time-consuming, and impossible to personalise at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Quicksand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11111"/>
                </a:solidFill>
                <a:latin typeface="Permanent Marker"/>
              </a:rPr>
              <a:t>Campus Placement AI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28700" y="114376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600200" y="113487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171700" y="112471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743200" y="111455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314700" y="110566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886200" y="111455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457700" y="112471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08000">
            <a:off x="5029200" y="113487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492000">
            <a:off x="5600700" y="114376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08000">
            <a:off x="6172200" y="113487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1492000">
            <a:off x="6743700" y="112471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Quicksand"/>
              </a:rPr>
              <a:t>A unified platform: student profile + resume + target role → Azure AI Foundry CampusPlacementAgent + RAG → personalised intelligence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057400"/>
            <a:ext cx="2743200" cy="210312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1305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Profile</a:t>
            </a:r>
          </a:p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Intelligence</a:t>
            </a:r>
          </a:p>
        </p:txBody>
      </p:sp>
      <p:sp>
        <p:nvSpPr>
          <p:cNvPr id="20" name="Rectangle 19"/>
          <p:cNvSpPr/>
          <p:nvPr/>
        </p:nvSpPr>
        <p:spPr>
          <a:xfrm rot="108000">
            <a:off x="502920" y="2533904"/>
            <a:ext cx="4368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1492000">
            <a:off x="914400" y="2542794"/>
            <a:ext cx="4368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108000">
            <a:off x="1325880" y="2533904"/>
            <a:ext cx="4368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1492000">
            <a:off x="1737360" y="2523744"/>
            <a:ext cx="4368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108000">
            <a:off x="2148840" y="2513584"/>
            <a:ext cx="4368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1492000">
            <a:off x="2560320" y="2504694"/>
            <a:ext cx="4368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Academic data, skills,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projects, certifications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27889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2057400"/>
            <a:ext cx="2743200" cy="210312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21305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Permanent Marker"/>
              </a:rPr>
              <a:t>Resume</a:t>
            </a:r>
          </a:p>
          <a:p>
            <a:pPr algn="l"/>
            <a:r>
              <a:rPr sz="1300" b="0" i="0">
                <a:solidFill>
                  <a:srgbClr val="16A34A"/>
                </a:solidFill>
                <a:latin typeface="Permanent Marker"/>
              </a:rPr>
              <a:t>Intelligence</a:t>
            </a:r>
          </a:p>
        </p:txBody>
      </p:sp>
      <p:sp>
        <p:nvSpPr>
          <p:cNvPr id="30" name="Rectangle 29"/>
          <p:cNvSpPr/>
          <p:nvPr/>
        </p:nvSpPr>
        <p:spPr>
          <a:xfrm rot="108000">
            <a:off x="3429000" y="2533904"/>
            <a:ext cx="4368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21492000">
            <a:off x="3840480" y="2542794"/>
            <a:ext cx="4368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108000">
            <a:off x="4251960" y="2533904"/>
            <a:ext cx="4368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21492000">
            <a:off x="4663440" y="2523744"/>
            <a:ext cx="4368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108000">
            <a:off x="5074920" y="2513584"/>
            <a:ext cx="4368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1492000">
            <a:off x="5486400" y="2504694"/>
            <a:ext cx="4368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0" y="2606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PDF / DOCX parsed,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text fed to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27889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2057400"/>
            <a:ext cx="2743200" cy="210312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1305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  <a:latin typeface="Permanent Marker"/>
              </a:rPr>
              <a:t>AI Agent</a:t>
            </a:r>
          </a:p>
          <a:p>
            <a:pPr algn="l"/>
            <a:r>
              <a:rPr sz="1300" b="0" i="0">
                <a:solidFill>
                  <a:srgbClr val="DC2626"/>
                </a:solidFill>
                <a:latin typeface="Permanent Marker"/>
              </a:rPr>
              <a:t>+ RAG</a:t>
            </a:r>
          </a:p>
        </p:txBody>
      </p:sp>
      <p:sp>
        <p:nvSpPr>
          <p:cNvPr id="40" name="Rectangle 39"/>
          <p:cNvSpPr/>
          <p:nvPr/>
        </p:nvSpPr>
        <p:spPr>
          <a:xfrm rot="108000">
            <a:off x="6355080" y="2533904"/>
            <a:ext cx="4368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 rot="21492000">
            <a:off x="6766560" y="2542794"/>
            <a:ext cx="4368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108000">
            <a:off x="7178040" y="2533904"/>
            <a:ext cx="4368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 rot="21492000">
            <a:off x="7589520" y="2523744"/>
            <a:ext cx="4368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108000">
            <a:off x="8001000" y="2513584"/>
            <a:ext cx="4368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21492000">
            <a:off x="8412480" y="2504694"/>
            <a:ext cx="4368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2606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Azure AI Foundry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CampusPlacementAgent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gpt-4.1-mini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27889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2057400"/>
            <a:ext cx="2743200" cy="210312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21305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Personalised</a:t>
            </a:r>
          </a:p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Outputs</a:t>
            </a:r>
          </a:p>
        </p:txBody>
      </p:sp>
      <p:sp>
        <p:nvSpPr>
          <p:cNvPr id="50" name="Rectangle 49"/>
          <p:cNvSpPr/>
          <p:nvPr/>
        </p:nvSpPr>
        <p:spPr>
          <a:xfrm rot="108000">
            <a:off x="9281160" y="2533904"/>
            <a:ext cx="4368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 rot="21492000">
            <a:off x="9692640" y="2542794"/>
            <a:ext cx="4368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108000">
            <a:off x="10104120" y="2533904"/>
            <a:ext cx="4368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 rot="21492000">
            <a:off x="10515600" y="2523744"/>
            <a:ext cx="4368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108000">
            <a:off x="10927080" y="2513584"/>
            <a:ext cx="4368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 rot="21492000">
            <a:off x="11338560" y="2504694"/>
            <a:ext cx="4368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2606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Eligibility · Skill Gap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Preparation · AI Chat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5760" y="4343400"/>
            <a:ext cx="2743200" cy="548640"/>
          </a:xfrm>
          <a:prstGeom prst="roundRect">
            <a:avLst/>
          </a:prstGeom>
          <a:solidFill>
            <a:srgbClr val="F2F8F2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44074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6A34A"/>
                </a:solidFill>
                <a:latin typeface="Permanent Marker"/>
              </a:rPr>
              <a:t>01  Eligibility Analysis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91840" y="4343400"/>
            <a:ext cx="2743200" cy="548640"/>
          </a:xfrm>
          <a:prstGeom prst="roundRect">
            <a:avLst/>
          </a:prstGeom>
          <a:solidFill>
            <a:srgbClr val="F2F8F2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29000" y="44074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Permanent Marker"/>
              </a:rPr>
              <a:t>02  Skill Gap Analysis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4343400"/>
            <a:ext cx="2743200" cy="548640"/>
          </a:xfrm>
          <a:prstGeom prst="roundRect">
            <a:avLst/>
          </a:prstGeom>
          <a:solidFill>
            <a:srgbClr val="F2F8F2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55080" y="44074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Permanent Marker"/>
              </a:rPr>
              <a:t>03  Preparation Plan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44000" y="4343400"/>
            <a:ext cx="2743200" cy="548640"/>
          </a:xfrm>
          <a:prstGeom prst="roundRect">
            <a:avLst/>
          </a:prstGeom>
          <a:solidFill>
            <a:srgbClr val="F2F8F2"/>
          </a:solidFill>
          <a:ln w="228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81160" y="44074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C2626"/>
                </a:solidFill>
                <a:latin typeface="Permanent Marker"/>
              </a:rPr>
              <a:t>04  AI Chat Assistant</a:t>
            </a:r>
          </a:p>
        </p:txBody>
      </p:sp>
      <p:sp>
        <p:nvSpPr>
          <p:cNvPr id="65" name="Rectangle 64"/>
          <p:cNvSpPr/>
          <p:nvPr/>
        </p:nvSpPr>
        <p:spPr>
          <a:xfrm rot="120000">
            <a:off x="9646920" y="5074920"/>
            <a:ext cx="2148840" cy="1097280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00" b="0">
                <a:solidFill>
                  <a:srgbClr val="111111"/>
                </a:solidFill>
                <a:latin typeface="Kalam"/>
              </a:rPr>
              <a:t>key rule:</a:t>
            </a:r>
          </a:p>
          <a:p>
            <a:r>
              <a:rPr sz="1000" b="0">
                <a:solidFill>
                  <a:srgbClr val="111111"/>
                </a:solidFill>
                <a:latin typeface="Kalam"/>
              </a:rPr>
              <a:t>never guarantee</a:t>
            </a:r>
          </a:p>
          <a:p>
            <a:r>
              <a:rPr sz="1000" b="0">
                <a:solidFill>
                  <a:srgbClr val="111111"/>
                </a:solidFill>
                <a:latin typeface="Kalam"/>
              </a:rPr>
              <a:t>placement! 🚫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6"/>
                </a:solidFill>
                <a:latin typeface="Quicksand"/>
              </a:rPr>
              <a:t>all four outputs are knowledge-grounded via RAG — not hallucinated generic advice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Quicksand"/>
              </a:rPr>
              <a:t>WHAT WE SET OUT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16000" y="114376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574800" y="113487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133600" y="112471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692400" y="111455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251200" y="110566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810000" y="111455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368800" y="112471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08000">
            <a:off x="4927600" y="113487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" y="16002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600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Permanent Marker"/>
              </a:rP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5544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Centralise all placement info into one structured student profile</a:t>
            </a:r>
          </a:p>
        </p:txBody>
      </p:sp>
      <p:sp>
        <p:nvSpPr>
          <p:cNvPr id="17" name="Rectangle 16"/>
          <p:cNvSpPr/>
          <p:nvPr/>
        </p:nvSpPr>
        <p:spPr>
          <a:xfrm rot="108000">
            <a:off x="868680" y="221386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1492000">
            <a:off x="1737360" y="222275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108000">
            <a:off x="2606040" y="221386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1492000">
            <a:off x="3474720" y="220370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108000">
            <a:off x="4343400" y="219354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1492000">
            <a:off x="5212080" y="218465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63640" y="1600200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600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Permanent Marker"/>
              </a:rPr>
              <a:t>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5544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Deliver knowledge-grounded AI analysis via Azure AI Foundry + RAG</a:t>
            </a:r>
          </a:p>
        </p:txBody>
      </p:sp>
      <p:sp>
        <p:nvSpPr>
          <p:cNvPr id="26" name="Rectangle 25"/>
          <p:cNvSpPr/>
          <p:nvPr/>
        </p:nvSpPr>
        <p:spPr>
          <a:xfrm rot="108000">
            <a:off x="6766560" y="221386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1492000">
            <a:off x="7635240" y="222275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108000">
            <a:off x="8503920" y="221386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1492000">
            <a:off x="9372600" y="220370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108000">
            <a:off x="10241280" y="219354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21492000">
            <a:off x="11109960" y="218465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5760" y="269748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697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Permanent Marker"/>
              </a:rPr>
              <a:t>III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26517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Analyse eligibility against target company &amp; role requirements</a:t>
            </a:r>
          </a:p>
        </p:txBody>
      </p:sp>
      <p:sp>
        <p:nvSpPr>
          <p:cNvPr id="35" name="Rectangle 34"/>
          <p:cNvSpPr/>
          <p:nvPr/>
        </p:nvSpPr>
        <p:spPr>
          <a:xfrm rot="108000">
            <a:off x="868680" y="331114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1492000">
            <a:off x="1737360" y="332003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108000">
            <a:off x="2606040" y="331114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1492000">
            <a:off x="3474720" y="330098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108000">
            <a:off x="4343400" y="329082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21492000">
            <a:off x="5212080" y="328193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3640" y="2697480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2697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Permanent Marker"/>
              </a:rPr>
              <a:t>IV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26517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Classify: SATISFIED · INFORMATION MISSING · CONFIRMED GAP</a:t>
            </a:r>
          </a:p>
        </p:txBody>
      </p:sp>
      <p:sp>
        <p:nvSpPr>
          <p:cNvPr id="44" name="Rectangle 43"/>
          <p:cNvSpPr/>
          <p:nvPr/>
        </p:nvSpPr>
        <p:spPr>
          <a:xfrm rot="108000">
            <a:off x="6766560" y="331114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21492000">
            <a:off x="7635240" y="332003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108000">
            <a:off x="8503920" y="331114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 rot="21492000">
            <a:off x="9372600" y="330098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108000">
            <a:off x="10241280" y="329082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1492000">
            <a:off x="11109960" y="328193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65760" y="3794760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3794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Permanent Marker"/>
              </a:rPr>
              <a:t>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37490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Parse uploaded resumes (PDF/DOCX) and integrate text into AI context</a:t>
            </a:r>
          </a:p>
        </p:txBody>
      </p:sp>
      <p:sp>
        <p:nvSpPr>
          <p:cNvPr id="53" name="Rectangle 52"/>
          <p:cNvSpPr/>
          <p:nvPr/>
        </p:nvSpPr>
        <p:spPr>
          <a:xfrm rot="108000">
            <a:off x="868680" y="440842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1492000">
            <a:off x="1737360" y="441731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 rot="108000">
            <a:off x="2606040" y="440842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 rot="21492000">
            <a:off x="3474720" y="439826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 rot="108000">
            <a:off x="4343400" y="438810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 rot="21492000">
            <a:off x="5212080" y="437921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263640" y="379476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3794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Permanent Marker"/>
              </a:rPr>
              <a:t>VI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37490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Generate personalised, phase-based placement preparation guidance</a:t>
            </a:r>
          </a:p>
        </p:txBody>
      </p:sp>
      <p:sp>
        <p:nvSpPr>
          <p:cNvPr id="62" name="Rectangle 61"/>
          <p:cNvSpPr/>
          <p:nvPr/>
        </p:nvSpPr>
        <p:spPr>
          <a:xfrm rot="108000">
            <a:off x="6766560" y="440842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 rot="21492000">
            <a:off x="7635240" y="441731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 rot="108000">
            <a:off x="8503920" y="440842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 rot="21492000">
            <a:off x="9372600" y="439826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 rot="108000">
            <a:off x="10241280" y="438810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 rot="21492000">
            <a:off x="11109960" y="437921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65760" y="4892040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48920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Permanent Marker"/>
              </a:rPr>
              <a:t>VII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484632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Provide interactive AI assistant with full conversation history</a:t>
            </a:r>
          </a:p>
        </p:txBody>
      </p:sp>
      <p:sp>
        <p:nvSpPr>
          <p:cNvPr id="71" name="Rectangle 70"/>
          <p:cNvSpPr/>
          <p:nvPr/>
        </p:nvSpPr>
        <p:spPr>
          <a:xfrm rot="108000">
            <a:off x="868680" y="550570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 rot="21492000">
            <a:off x="1737360" y="551459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 rot="108000">
            <a:off x="2606040" y="550570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 rot="21492000">
            <a:off x="3474720" y="549554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 rot="108000">
            <a:off x="4343400" y="548538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 rot="21492000">
            <a:off x="5212080" y="5476494"/>
            <a:ext cx="8940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263640" y="4892040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63640" y="48920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Permanent Marker"/>
              </a:rPr>
              <a:t>VIII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66560" y="484632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Build a scalable foundation for future placement intelligence features</a:t>
            </a:r>
          </a:p>
        </p:txBody>
      </p:sp>
      <p:sp>
        <p:nvSpPr>
          <p:cNvPr id="80" name="Rectangle 79"/>
          <p:cNvSpPr/>
          <p:nvPr/>
        </p:nvSpPr>
        <p:spPr>
          <a:xfrm rot="108000">
            <a:off x="6766560" y="550570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 rot="21492000">
            <a:off x="7635240" y="551459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 rot="108000">
            <a:off x="8503920" y="550570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 rot="21492000">
            <a:off x="9372600" y="549554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 rot="108000">
            <a:off x="10241280" y="548538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 rot="21492000">
            <a:off x="11109960" y="5476494"/>
            <a:ext cx="8940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6"/>
                </a:solidFill>
                <a:latin typeface="Quicksand"/>
              </a:rPr>
              <a:t>objective IV — distinguishing missing info from skill gaps — is a core design principle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Quicksand"/>
              </a:rPr>
              <a:t>WHO USES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Target Users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4791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979714" y="1143762"/>
            <a:ext cx="54791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502228" y="1134872"/>
            <a:ext cx="54791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024742" y="1124712"/>
            <a:ext cx="54791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547256" y="1114552"/>
            <a:ext cx="54791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069770" y="1105662"/>
            <a:ext cx="54791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592284" y="1114552"/>
            <a:ext cx="54791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1417320"/>
            <a:ext cx="3657600" cy="384048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904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Students  (Primary)</a:t>
            </a:r>
          </a:p>
        </p:txBody>
      </p:sp>
      <p:sp>
        <p:nvSpPr>
          <p:cNvPr id="14" name="Rectangle 13"/>
          <p:cNvSpPr/>
          <p:nvPr/>
        </p:nvSpPr>
        <p:spPr>
          <a:xfrm rot="108000">
            <a:off x="502920" y="1893824"/>
            <a:ext cx="5892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1492000">
            <a:off x="1066800" y="1902714"/>
            <a:ext cx="5892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108000">
            <a:off x="1630680" y="1893824"/>
            <a:ext cx="5892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1492000">
            <a:off x="2194560" y="1883664"/>
            <a:ext cx="5892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108000">
            <a:off x="2758440" y="1873504"/>
            <a:ext cx="5892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1492000">
            <a:off x="3322320" y="1864614"/>
            <a:ext cx="5892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9659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Build complete placement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5000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Check eligibility for target 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73405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Identify confirmed skill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11810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Generate phase-based prep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0215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Ask AI placement 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862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View conversation history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417320"/>
            <a:ext cx="3657600" cy="384048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4904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Permanent Marker"/>
              </a:rPr>
              <a:t>Placement Cells  (Future)</a:t>
            </a:r>
          </a:p>
        </p:txBody>
      </p:sp>
      <p:sp>
        <p:nvSpPr>
          <p:cNvPr id="28" name="Rectangle 27"/>
          <p:cNvSpPr/>
          <p:nvPr/>
        </p:nvSpPr>
        <p:spPr>
          <a:xfrm rot="108000">
            <a:off x="4434840" y="1893824"/>
            <a:ext cx="5892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1492000">
            <a:off x="4998720" y="1902714"/>
            <a:ext cx="5892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108000">
            <a:off x="5562600" y="1893824"/>
            <a:ext cx="5892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21492000">
            <a:off x="6126480" y="1883664"/>
            <a:ext cx="5892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108000">
            <a:off x="6690360" y="1873504"/>
            <a:ext cx="5892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21492000">
            <a:off x="7254240" y="1864614"/>
            <a:ext cx="5892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19659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Manage RAG knowledge 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235000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Monitor student readiness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273405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Scale AI guidance to cohort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311810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Reduce manual counselling 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350215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→ NOT yet implemented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1417320"/>
            <a:ext cx="3657600" cy="384048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14904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  <a:latin typeface="Permanent Marker"/>
              </a:rPr>
              <a:t>Recruiters  (Future)</a:t>
            </a:r>
          </a:p>
        </p:txBody>
      </p:sp>
      <p:sp>
        <p:nvSpPr>
          <p:cNvPr id="41" name="Rectangle 40"/>
          <p:cNvSpPr/>
          <p:nvPr/>
        </p:nvSpPr>
        <p:spPr>
          <a:xfrm rot="108000">
            <a:off x="8366760" y="1893824"/>
            <a:ext cx="5892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1492000">
            <a:off x="8930640" y="1902714"/>
            <a:ext cx="5892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 rot="108000">
            <a:off x="9494520" y="1893824"/>
            <a:ext cx="5892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1492000">
            <a:off x="10058400" y="1883664"/>
            <a:ext cx="5892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108000">
            <a:off x="10622280" y="1873504"/>
            <a:ext cx="5892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1492000">
            <a:off x="11186160" y="1864614"/>
            <a:ext cx="5892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19659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Role-specific requirement upload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235000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Candidate-role gap reports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273405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Structured hiring intelligence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11810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→ NOT yet implemented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6"/>
                </a:solidFill>
                <a:latin typeface="Quicksand"/>
              </a:rPr>
              <a:t>only students are actively supported in v1. placement cells and recruiter features are future scope.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Quicksand"/>
              </a:rPr>
              <a:t>HOW IT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End-to-End System Workflow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60729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39090" y="1143762"/>
            <a:ext cx="60729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620980" y="1134872"/>
            <a:ext cx="60729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202870" y="1124712"/>
            <a:ext cx="60729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784760" y="1114552"/>
            <a:ext cx="60729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366650" y="1105662"/>
            <a:ext cx="60729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948540" y="1114552"/>
            <a:ext cx="60729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530430" y="1124712"/>
            <a:ext cx="60729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08000">
            <a:off x="5112320" y="1134872"/>
            <a:ext cx="60729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492000">
            <a:off x="5694210" y="1143762"/>
            <a:ext cx="60729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08000">
            <a:off x="6276100" y="1134872"/>
            <a:ext cx="60729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417320"/>
            <a:ext cx="2011680" cy="914400"/>
          </a:xfrm>
          <a:prstGeom prst="roundRect">
            <a:avLst/>
          </a:prstGeom>
          <a:solidFill>
            <a:srgbClr val="EFF6FF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508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563EB"/>
                </a:solidFill>
                <a:latin typeface="Permanent Marker"/>
              </a:rPr>
              <a:t>Register</a:t>
            </a:r>
          </a:p>
          <a:p>
            <a:pPr algn="ctr"/>
            <a:r>
              <a:rPr sz="1100" b="0" i="0">
                <a:solidFill>
                  <a:srgbClr val="2563EB"/>
                </a:solidFill>
                <a:latin typeface="Permanent Marker"/>
              </a:rPr>
              <a:t>/ 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1417320"/>
            <a:ext cx="2011680" cy="914400"/>
          </a:xfrm>
          <a:prstGeom prst="roundRect">
            <a:avLst/>
          </a:prstGeom>
          <a:solidFill>
            <a:srgbClr val="EFF6FF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508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563EB"/>
                </a:solidFill>
                <a:latin typeface="Permanent Marker"/>
              </a:rPr>
              <a:t>Build</a:t>
            </a:r>
          </a:p>
          <a:p>
            <a:pPr algn="ctr"/>
            <a:r>
              <a:rPr sz="1100" b="0" i="0">
                <a:solidFill>
                  <a:srgbClr val="2563EB"/>
                </a:solidFill>
                <a:latin typeface="Permanent Marker"/>
              </a:rPr>
              <a:t>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1417320"/>
            <a:ext cx="2011680" cy="914400"/>
          </a:xfrm>
          <a:prstGeom prst="roundRect">
            <a:avLst/>
          </a:prstGeom>
          <a:solidFill>
            <a:srgbClr val="EFF6FF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1508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563EB"/>
                </a:solidFill>
                <a:latin typeface="Permanent Marker"/>
              </a:rPr>
              <a:t>Upload</a:t>
            </a:r>
          </a:p>
          <a:p>
            <a:pPr algn="ctr"/>
            <a:r>
              <a:rPr sz="1100" b="0" i="0">
                <a:solidFill>
                  <a:srgbClr val="2563EB"/>
                </a:solidFill>
                <a:latin typeface="Permanent Marker"/>
              </a:rPr>
              <a:t>Resume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1417320"/>
            <a:ext cx="2011680" cy="914400"/>
          </a:xfrm>
          <a:prstGeom prst="roundRect">
            <a:avLst/>
          </a:prstGeom>
          <a:solidFill>
            <a:srgbClr val="EFF6FF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1508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563EB"/>
                </a:solidFill>
                <a:latin typeface="Permanent Marker"/>
              </a:rPr>
              <a:t>Select Role</a:t>
            </a:r>
          </a:p>
          <a:p>
            <a:pPr algn="ctr"/>
            <a:r>
              <a:rPr sz="1100" b="0" i="0">
                <a:solidFill>
                  <a:srgbClr val="2563EB"/>
                </a:solidFill>
                <a:latin typeface="Permanent Marker"/>
              </a:rPr>
              <a:t>&amp; Company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1417320"/>
            <a:ext cx="2011680" cy="914400"/>
          </a:xfrm>
          <a:prstGeom prst="roundRect">
            <a:avLst/>
          </a:prstGeom>
          <a:solidFill>
            <a:srgbClr val="EFF6FF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1508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563EB"/>
                </a:solidFill>
                <a:latin typeface="Permanent Marker"/>
              </a:rPr>
              <a:t>Request</a:t>
            </a:r>
          </a:p>
          <a:p>
            <a:pPr algn="ctr"/>
            <a:r>
              <a:rPr sz="1100" b="0" i="0">
                <a:solidFill>
                  <a:srgbClr val="2563EB"/>
                </a:solidFill>
                <a:latin typeface="Permanent Marker"/>
              </a:rPr>
              <a:t>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563EB"/>
                </a:solidFill>
                <a:latin typeface="Permanent Marker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2880360"/>
            <a:ext cx="6675120" cy="685800"/>
          </a:xfrm>
          <a:prstGeom prst="roundRect">
            <a:avLst/>
          </a:prstGeom>
          <a:solidFill>
            <a:srgbClr val="F5F5F0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301752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  <a:latin typeface="Permanent Marker"/>
              </a:rPr>
              <a:t>Express Backend  ·  REST API  ·  JWT Auth  ·  Profile Context Builder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C2626"/>
                </a:solidFill>
                <a:latin typeface="Permanent Marker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4114800"/>
            <a:ext cx="7589520" cy="777240"/>
          </a:xfrm>
          <a:prstGeom prst="roundRect">
            <a:avLst/>
          </a:prstGeom>
          <a:solidFill>
            <a:srgbClr val="FFF4F4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8880" y="425196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DC2626"/>
                </a:solidFill>
                <a:latin typeface="Permanent Marker"/>
              </a:rPr>
              <a:t>Azure AI Foundry  ·  CampusPlacementAgent  ·  RAG Knowledge Base  ·  gpt-4.1-mini</a:t>
            </a:r>
          </a:p>
        </p:txBody>
      </p:sp>
      <p:sp>
        <p:nvSpPr>
          <p:cNvPr id="36" name="Rectangle 35"/>
          <p:cNvSpPr/>
          <p:nvPr/>
        </p:nvSpPr>
        <p:spPr>
          <a:xfrm rot="90000">
            <a:off x="365760" y="5120640"/>
            <a:ext cx="2606040" cy="914400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100" b="0">
                <a:solidFill>
                  <a:srgbClr val="111111"/>
                </a:solidFill>
                <a:latin typeface="Kalam"/>
              </a:rPr>
              <a:t>eligibility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✓ / ? / ⚠</a:t>
            </a:r>
          </a:p>
        </p:txBody>
      </p:sp>
      <p:sp>
        <p:nvSpPr>
          <p:cNvPr id="37" name="Rectangle 36"/>
          <p:cNvSpPr/>
          <p:nvPr/>
        </p:nvSpPr>
        <p:spPr>
          <a:xfrm rot="21510000">
            <a:off x="3291840" y="5120640"/>
            <a:ext cx="2606040" cy="914400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100" b="0">
                <a:solidFill>
                  <a:srgbClr val="111111"/>
                </a:solidFill>
                <a:latin typeface="Kalam"/>
              </a:rPr>
              <a:t>skill gap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matrix 🔍</a:t>
            </a:r>
          </a:p>
        </p:txBody>
      </p:sp>
      <p:sp>
        <p:nvSpPr>
          <p:cNvPr id="38" name="Rectangle 37"/>
          <p:cNvSpPr/>
          <p:nvPr/>
        </p:nvSpPr>
        <p:spPr>
          <a:xfrm rot="90000">
            <a:off x="6217920" y="5120640"/>
            <a:ext cx="2606040" cy="914400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100" b="0">
                <a:solidFill>
                  <a:srgbClr val="111111"/>
                </a:solidFill>
                <a:latin typeface="Kalam"/>
              </a:rPr>
              <a:t>prep plan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phase I–V 📋</a:t>
            </a:r>
          </a:p>
        </p:txBody>
      </p:sp>
      <p:sp>
        <p:nvSpPr>
          <p:cNvPr id="39" name="Rectangle 38"/>
          <p:cNvSpPr/>
          <p:nvPr/>
        </p:nvSpPr>
        <p:spPr>
          <a:xfrm rot="21510000">
            <a:off x="9144000" y="5120640"/>
            <a:ext cx="2606040" cy="914400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100" b="0">
                <a:solidFill>
                  <a:srgbClr val="111111"/>
                </a:solidFill>
                <a:latin typeface="Kalam"/>
              </a:rPr>
              <a:t>AI chat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history 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263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every analysis call includes: profile + skills + projects + resume text + conversation history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Quicksand"/>
              </a:rPr>
              <a:t>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842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16000" y="1143762"/>
            <a:ext cx="5842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574800" y="1134872"/>
            <a:ext cx="5842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133600" y="1124712"/>
            <a:ext cx="5842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692400" y="1114552"/>
            <a:ext cx="5842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251200" y="1105662"/>
            <a:ext cx="5842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810000" y="1114552"/>
            <a:ext cx="5842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368800" y="1124712"/>
            <a:ext cx="5842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08000">
            <a:off x="4927600" y="1134872"/>
            <a:ext cx="5842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371600"/>
            <a:ext cx="11247120" cy="667512"/>
          </a:xfrm>
          <a:prstGeom prst="rect">
            <a:avLst/>
          </a:prstGeom>
          <a:solidFill>
            <a:srgbClr val="F0F7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49961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63EB"/>
                </a:solidFill>
                <a:latin typeface="Permanent Marker"/>
              </a:rPr>
              <a:t>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1499616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React 18  ·  TypeScript  ·  Vite 5  ·  Tailwind CSS 3  ·  React Router v6  ·  lucide-react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30552"/>
            <a:ext cx="11247120" cy="667512"/>
          </a:xfrm>
          <a:prstGeom prst="rect">
            <a:avLst/>
          </a:prstGeom>
          <a:solidFill>
            <a:srgbClr val="F5F5F3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2585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111"/>
                </a:solidFill>
                <a:latin typeface="Permanent Marker"/>
              </a:rPr>
              <a:t>API /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25856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Express.js 4  ·  TypeScript  ·  ts-node-dev  ·  express-validator  ·  helmet  ·  cors  ·  morgan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89504"/>
            <a:ext cx="11247120" cy="667512"/>
          </a:xfrm>
          <a:prstGeom prst="rect">
            <a:avLst/>
          </a:prstGeom>
          <a:solidFill>
            <a:srgbClr val="F0FBF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0175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6A34A"/>
                </a:solidFill>
                <a:latin typeface="Permanent Marker"/>
              </a:rP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01752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SQLite via better-sqlite3 v13  ·  8 tables  ·  WAL mode  ·  FK constraints  ·  AUTOINCREMENT PKs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48456"/>
            <a:ext cx="11247120" cy="667512"/>
          </a:xfrm>
          <a:prstGeom prst="rect">
            <a:avLst/>
          </a:prstGeom>
          <a:solidFill>
            <a:srgbClr val="F0F7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764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63EB"/>
                </a:solidFill>
                <a:latin typeface="Permanent Marker"/>
              </a:rPr>
              <a:t>Docs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776472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multer v2.4 (upload)  ·  pdf-parse (PDF text)  ·  mammoth (DOCX text)  ·  5 MB limit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07408"/>
            <a:ext cx="11247120" cy="667512"/>
          </a:xfrm>
          <a:prstGeom prst="rect">
            <a:avLst/>
          </a:prstGeom>
          <a:solidFill>
            <a:srgbClr val="FFF3F3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53542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C2626"/>
                </a:solidFill>
                <a:latin typeface="Permanent Marker"/>
              </a:rPr>
              <a:t>AI /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535424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@azure/ai-projects v2.7.0  ·  AIProjectClient  ·  CampusPlacementAgent  ·  gpt-4.1-mini  ·  Responses API  ·  DefaultAzureCredential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66360"/>
            <a:ext cx="11247120" cy="667512"/>
          </a:xfrm>
          <a:prstGeom prst="rect">
            <a:avLst/>
          </a:prstGeom>
          <a:solidFill>
            <a:srgbClr val="F0FBF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29437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6A34A"/>
                </a:solidFill>
                <a:latin typeface="Permanent Marker"/>
              </a:rPr>
              <a:t>Auth / Sec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294376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jsonwebtoken  ·  bcryptjs (12 rounds salt)  ·  stateless JWT  ·  credentials never reach 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63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monorepo: /client (React/Vite) + /server (Express/TS)  ·  dev: npm run dev (concurrently)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Quicksand"/>
              </a:rPr>
              <a:t>AI &amp; RAG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111111"/>
                </a:solidFill>
                <a:latin typeface="Permanent Marker"/>
              </a:rPr>
              <a:t>Azure AI Foundry + RAG Architecture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613228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45028" y="1143762"/>
            <a:ext cx="613228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632856" y="1134872"/>
            <a:ext cx="613228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220684" y="1124712"/>
            <a:ext cx="613228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808512" y="1114552"/>
            <a:ext cx="613228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396340" y="1105662"/>
            <a:ext cx="613228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984168" y="1114552"/>
            <a:ext cx="613228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571996" y="1124712"/>
            <a:ext cx="613228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08000">
            <a:off x="5159824" y="1134872"/>
            <a:ext cx="613228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492000">
            <a:off x="5747652" y="1143762"/>
            <a:ext cx="613228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08000">
            <a:off x="6335480" y="1134872"/>
            <a:ext cx="613228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1492000">
            <a:off x="6923308" y="1124712"/>
            <a:ext cx="613228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108000">
            <a:off x="7511136" y="1114552"/>
            <a:ext cx="613228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1492000">
            <a:off x="8098964" y="1105662"/>
            <a:ext cx="613228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1417320"/>
            <a:ext cx="5303520" cy="1024128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14904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Knowledge Base</a:t>
            </a:r>
          </a:p>
        </p:txBody>
      </p:sp>
      <p:sp>
        <p:nvSpPr>
          <p:cNvPr id="21" name="Rectangle 20"/>
          <p:cNvSpPr/>
          <p:nvPr/>
        </p:nvSpPr>
        <p:spPr>
          <a:xfrm rot="108000">
            <a:off x="502920" y="1893824"/>
            <a:ext cx="8636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1492000">
            <a:off x="1341120" y="1902714"/>
            <a:ext cx="8636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108000">
            <a:off x="2179320" y="1893824"/>
            <a:ext cx="8636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1492000">
            <a:off x="3017520" y="1883664"/>
            <a:ext cx="8636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108000">
            <a:off x="3855720" y="1873504"/>
            <a:ext cx="8636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1492000">
            <a:off x="4693920" y="1864614"/>
            <a:ext cx="8636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196596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Placement docs, role requirements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stored in Azure AI Foundry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24414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563EB"/>
                </a:solidFill>
                <a:latin typeface="Permanent Marker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560320"/>
            <a:ext cx="5303520" cy="1024128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6334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Permanent Marker"/>
              </a:rPr>
              <a:t>Retrieval</a:t>
            </a:r>
          </a:p>
        </p:txBody>
      </p:sp>
      <p:sp>
        <p:nvSpPr>
          <p:cNvPr id="31" name="Rectangle 30"/>
          <p:cNvSpPr/>
          <p:nvPr/>
        </p:nvSpPr>
        <p:spPr>
          <a:xfrm rot="108000">
            <a:off x="502920" y="3036824"/>
            <a:ext cx="8636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21492000">
            <a:off x="1341120" y="3045714"/>
            <a:ext cx="8636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108000">
            <a:off x="2179320" y="3036824"/>
            <a:ext cx="8636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21492000">
            <a:off x="3017520" y="3026664"/>
            <a:ext cx="8636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108000">
            <a:off x="3855720" y="3016504"/>
            <a:ext cx="8636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1492000">
            <a:off x="4693920" y="3007614"/>
            <a:ext cx="8636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10896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Relevant docs pulled based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on query + student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35844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Permanent Marker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3703320"/>
            <a:ext cx="5303520" cy="1024128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7764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Augmentation</a:t>
            </a:r>
          </a:p>
        </p:txBody>
      </p:sp>
      <p:sp>
        <p:nvSpPr>
          <p:cNvPr id="41" name="Rectangle 40"/>
          <p:cNvSpPr/>
          <p:nvPr/>
        </p:nvSpPr>
        <p:spPr>
          <a:xfrm rot="108000">
            <a:off x="502920" y="4179824"/>
            <a:ext cx="8636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1492000">
            <a:off x="1341120" y="4188714"/>
            <a:ext cx="8636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 rot="108000">
            <a:off x="2179320" y="4179824"/>
            <a:ext cx="8636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1492000">
            <a:off x="3017520" y="4169664"/>
            <a:ext cx="8636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108000">
            <a:off x="3855720" y="4159504"/>
            <a:ext cx="8636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1492000">
            <a:off x="4693920" y="4150614"/>
            <a:ext cx="8636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25196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Profile + resume text + history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added to AI prompt context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47274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563EB"/>
                </a:solidFill>
                <a:latin typeface="Permanent Marker"/>
              </a:rPr>
              <a:t>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4846320"/>
            <a:ext cx="5303520" cy="1024128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9194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  <a:latin typeface="Permanent Marker"/>
              </a:rPr>
              <a:t>Generation</a:t>
            </a:r>
          </a:p>
        </p:txBody>
      </p:sp>
      <p:sp>
        <p:nvSpPr>
          <p:cNvPr id="51" name="Rectangle 50"/>
          <p:cNvSpPr/>
          <p:nvPr/>
        </p:nvSpPr>
        <p:spPr>
          <a:xfrm rot="108000">
            <a:off x="502920" y="5322824"/>
            <a:ext cx="8636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21492000">
            <a:off x="1341120" y="5331714"/>
            <a:ext cx="8636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 rot="108000">
            <a:off x="2179320" y="5322824"/>
            <a:ext cx="8636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1492000">
            <a:off x="3017520" y="5312664"/>
            <a:ext cx="8636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 rot="108000">
            <a:off x="3855720" y="5302504"/>
            <a:ext cx="8636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 rot="21492000">
            <a:off x="4693920" y="5293614"/>
            <a:ext cx="8636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39496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CampusPlacementAgent produces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grounded, accurate response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1417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6B66"/>
                </a:solidFill>
                <a:latin typeface="Quicksand"/>
              </a:rPr>
              <a:t>SDK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141732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Quicksand"/>
              </a:rPr>
              <a:t>@azure/ai-projects  v2.7.0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35040" y="1892808"/>
            <a:ext cx="5806440" cy="19050"/>
          </a:xfrm>
          <a:prstGeom prst="rect">
            <a:avLst/>
          </a:prstGeom>
          <a:solidFill>
            <a:srgbClr val="E3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5040" y="19888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6B66"/>
                </a:solidFill>
                <a:latin typeface="Quicksand"/>
              </a:rPr>
              <a:t>Client class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79" y="198882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Quicksand"/>
              </a:rPr>
              <a:t>AIProjectClient(endpoint, cred)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0" y="2464308"/>
            <a:ext cx="5806440" cy="19050"/>
          </a:xfrm>
          <a:prstGeom prst="rect">
            <a:avLst/>
          </a:prstGeom>
          <a:solidFill>
            <a:srgbClr val="E3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35040" y="2560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6B66"/>
                </a:solidFill>
                <a:latin typeface="Quicksand"/>
              </a:rPr>
              <a:t>OpenAI client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79" y="256032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Quicksand"/>
              </a:rPr>
              <a:t>.getOpenAIClient({ azureConfig: { agentName } })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35040" y="3035808"/>
            <a:ext cx="5806440" cy="19050"/>
          </a:xfrm>
          <a:prstGeom prst="rect">
            <a:avLst/>
          </a:prstGeom>
          <a:solidFill>
            <a:srgbClr val="E3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35040" y="31318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6B66"/>
                </a:solidFill>
                <a:latin typeface="Quicksand"/>
              </a:rPr>
              <a:t>API call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313182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Quicksand"/>
              </a:rPr>
              <a:t>openai.responses.create({ model, input })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35040" y="3607308"/>
            <a:ext cx="5806440" cy="19050"/>
          </a:xfrm>
          <a:prstGeom prst="rect">
            <a:avLst/>
          </a:prstGeom>
          <a:solidFill>
            <a:srgbClr val="E3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35040" y="3703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6B66"/>
                </a:solidFill>
                <a:latin typeface="Quicksand"/>
              </a:rPr>
              <a:t>Model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79" y="370332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Quicksand"/>
              </a:rPr>
              <a:t>gpt-4.1-mini  (deployed in Foundry)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35040" y="4178808"/>
            <a:ext cx="5806440" cy="19050"/>
          </a:xfrm>
          <a:prstGeom prst="rect">
            <a:avLst/>
          </a:prstGeom>
          <a:solidFill>
            <a:srgbClr val="E3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35040" y="42748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6B66"/>
                </a:solidFill>
                <a:latin typeface="Quicksand"/>
              </a:rPr>
              <a:t>Agent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55279" y="427482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Quicksand"/>
              </a:rPr>
              <a:t>CampusPlacementAgent  (pre-configured + RAG)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35040" y="4750308"/>
            <a:ext cx="5806440" cy="19050"/>
          </a:xfrm>
          <a:prstGeom prst="rect">
            <a:avLst/>
          </a:prstGeom>
          <a:solidFill>
            <a:srgbClr val="E3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35040" y="4846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6B66"/>
                </a:solidFill>
                <a:latin typeface="Quicksand"/>
              </a:rPr>
              <a:t>Context sent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55279" y="484632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Quicksand"/>
              </a:rPr>
              <a:t>Profile + Skills + Projects + Resume + History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5321808"/>
            <a:ext cx="5806440" cy="19050"/>
          </a:xfrm>
          <a:prstGeom prst="rect">
            <a:avLst/>
          </a:prstGeom>
          <a:solidFill>
            <a:srgbClr val="E3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35040" y="54178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6B66"/>
                </a:solidFill>
                <a:latin typeface="Quicksand"/>
              </a:rPr>
              <a:t>Auth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55279" y="541782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Quicksand"/>
              </a:rPr>
              <a:t>DefaultAzureCredential  (az login)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35040" y="5893308"/>
            <a:ext cx="5806440" cy="19050"/>
          </a:xfrm>
          <a:prstGeom prst="rect">
            <a:avLst/>
          </a:prstGeom>
          <a:solidFill>
            <a:srgbClr val="E3E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" y="6263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RAG ensures responses are grounded in actual placement knowledge, not generic model outputs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Quicksand"/>
              </a:rPr>
              <a:t>FEATURE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Eligibility Intelligence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7404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05840" y="1143762"/>
            <a:ext cx="57404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554480" y="1134872"/>
            <a:ext cx="57404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103120" y="1124712"/>
            <a:ext cx="57404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651760" y="1114552"/>
            <a:ext cx="57404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200400" y="1105662"/>
            <a:ext cx="57404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749040" y="1114552"/>
            <a:ext cx="57404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297680" y="1124712"/>
            <a:ext cx="57404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08000">
            <a:off x="4846320" y="1134872"/>
            <a:ext cx="57404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492000">
            <a:off x="5394960" y="1143762"/>
            <a:ext cx="57404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325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Quicksand"/>
              </a:rPr>
              <a:t>Student profile + resume + target company/role → sent to CampusPlacementAgent → AI classifies each eligibility criterion into one of three categories: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48840"/>
            <a:ext cx="3703320" cy="228600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2199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Permanent Marker"/>
              </a:rPr>
              <a:t>✓  SATISFIED</a:t>
            </a:r>
          </a:p>
        </p:txBody>
      </p:sp>
      <p:sp>
        <p:nvSpPr>
          <p:cNvPr id="18" name="Rectangle 17"/>
          <p:cNvSpPr/>
          <p:nvPr/>
        </p:nvSpPr>
        <p:spPr>
          <a:xfrm rot="108000">
            <a:off x="502920" y="2625344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1492000">
            <a:off x="1074420" y="2634234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108000">
            <a:off x="1645920" y="2625344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1492000">
            <a:off x="2217420" y="2615184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108000">
            <a:off x="2788920" y="2605024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1492000">
            <a:off x="3360420" y="2596134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Requirement clearly met based on student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2148840"/>
            <a:ext cx="3703320" cy="228600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22199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?  INFORMATION MISSING</a:t>
            </a:r>
          </a:p>
        </p:txBody>
      </p:sp>
      <p:sp>
        <p:nvSpPr>
          <p:cNvPr id="27" name="Rectangle 26"/>
          <p:cNvSpPr/>
          <p:nvPr/>
        </p:nvSpPr>
        <p:spPr>
          <a:xfrm rot="108000">
            <a:off x="4434840" y="262534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1492000">
            <a:off x="5006340" y="263423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108000">
            <a:off x="5577840" y="262534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1492000">
            <a:off x="6149340" y="261518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108000">
            <a:off x="6720840" y="260502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21492000">
            <a:off x="7292340" y="259613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Student hasn't provided this data. NOT assumed to be a gap.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2148840"/>
            <a:ext cx="3703320" cy="228600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222199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  <a:latin typeface="Permanent Marker"/>
              </a:rPr>
              <a:t>⚠  CONFIRMED GAP</a:t>
            </a:r>
          </a:p>
        </p:txBody>
      </p:sp>
      <p:sp>
        <p:nvSpPr>
          <p:cNvPr id="36" name="Rectangle 35"/>
          <p:cNvSpPr/>
          <p:nvPr/>
        </p:nvSpPr>
        <p:spPr>
          <a:xfrm rot="108000">
            <a:off x="8366760" y="2625344"/>
            <a:ext cx="5969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1492000">
            <a:off x="8938260" y="2634234"/>
            <a:ext cx="5969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108000">
            <a:off x="9509760" y="2625344"/>
            <a:ext cx="5969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1492000">
            <a:off x="10081260" y="2615184"/>
            <a:ext cx="5969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108000">
            <a:off x="10652760" y="2605024"/>
            <a:ext cx="5969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 rot="21492000">
            <a:off x="11224260" y="2596134"/>
            <a:ext cx="5969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Clearly lacking based on available profile information.</a:t>
            </a:r>
          </a:p>
        </p:txBody>
      </p:sp>
      <p:sp>
        <p:nvSpPr>
          <p:cNvPr id="43" name="Rectangle 42"/>
          <p:cNvSpPr/>
          <p:nvPr/>
        </p:nvSpPr>
        <p:spPr>
          <a:xfrm rot="21480000">
            <a:off x="411480" y="4709160"/>
            <a:ext cx="3200400" cy="1645920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key principle: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missing info ≠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skill gap! 🚨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never treat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'not provided' as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a confirmed gap</a:t>
            </a:r>
          </a:p>
        </p:txBody>
      </p:sp>
      <p:sp>
        <p:nvSpPr>
          <p:cNvPr id="44" name="Rectangle 43"/>
          <p:cNvSpPr/>
          <p:nvPr/>
        </p:nvSpPr>
        <p:spPr>
          <a:xfrm rot="120000">
            <a:off x="8686800" y="4663440"/>
            <a:ext cx="2560320" cy="1417320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important: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platform NEVER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guarantees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selection 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263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analysis route: POST /api/analysis/eligibility  ·  result stored in analyses table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Quicksand"/>
              </a:rPr>
              <a:t>FEATURE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Skill Gap Intelligence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16000" y="114376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574800" y="113487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133600" y="112471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692400" y="111455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251200" y="110566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810000" y="111455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368800" y="112471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08000">
            <a:off x="4927600" y="113487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417320"/>
            <a:ext cx="3703320" cy="38404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4447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Permanent Marker"/>
              </a:rPr>
              <a:t>Skill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417320"/>
            <a:ext cx="3383280" cy="38404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4447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Permanent Marker"/>
              </a:rPr>
              <a:t>Classification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417320"/>
            <a:ext cx="4114800" cy="38404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14447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Permanent Marker"/>
              </a:rPr>
              <a:t>Recommended 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1828800"/>
            <a:ext cx="3703320" cy="621792"/>
          </a:xfrm>
          <a:prstGeom prst="rect">
            <a:avLst/>
          </a:prstGeom>
          <a:solidFill>
            <a:srgbClr val="F8FFF8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1828800"/>
            <a:ext cx="3383280" cy="621792"/>
          </a:xfrm>
          <a:prstGeom prst="rect">
            <a:avLst/>
          </a:prstGeom>
          <a:solidFill>
            <a:srgbClr val="F8FFF8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1828800"/>
            <a:ext cx="4114800" cy="621792"/>
          </a:xfrm>
          <a:prstGeom prst="rect">
            <a:avLst/>
          </a:prstGeom>
          <a:solidFill>
            <a:srgbClr val="F8FFF8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193852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Python Programming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19385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  <a:latin typeface="Quicksand"/>
              </a:rPr>
              <a:t>✓  SATISFIED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193852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6B66"/>
                </a:solidFill>
                <a:latin typeface="Quicksand"/>
              </a:rPr>
              <a:t>No action needed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487168"/>
            <a:ext cx="3703320" cy="621792"/>
          </a:xfrm>
          <a:prstGeom prst="rect">
            <a:avLst/>
          </a:prstGeom>
          <a:solidFill>
            <a:srgbClr val="F8FFF8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2487168"/>
            <a:ext cx="3383280" cy="621792"/>
          </a:xfrm>
          <a:prstGeom prst="rect">
            <a:avLst/>
          </a:prstGeom>
          <a:solidFill>
            <a:srgbClr val="F8FFF8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0" y="2487168"/>
            <a:ext cx="4114800" cy="621792"/>
          </a:xfrm>
          <a:prstGeom prst="rect">
            <a:avLst/>
          </a:prstGeom>
          <a:solidFill>
            <a:srgbClr val="F8FFF8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596896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Data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25968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  <a:latin typeface="Quicksand"/>
              </a:rPr>
              <a:t>✓  SATISFIED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59689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6B66"/>
                </a:solidFill>
                <a:latin typeface="Quicksand"/>
              </a:rPr>
              <a:t>No action needed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145536"/>
            <a:ext cx="3703320" cy="621792"/>
          </a:xfrm>
          <a:prstGeom prst="rect">
            <a:avLst/>
          </a:prstGeom>
          <a:solidFill>
            <a:srgbClr val="F5F8FF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60" y="3145536"/>
            <a:ext cx="3383280" cy="621792"/>
          </a:xfrm>
          <a:prstGeom prst="rect">
            <a:avLst/>
          </a:prstGeom>
          <a:solidFill>
            <a:srgbClr val="F5F8FF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3145536"/>
            <a:ext cx="4114800" cy="621792"/>
          </a:xfrm>
          <a:prstGeom prst="rect">
            <a:avLst/>
          </a:prstGeom>
          <a:solidFill>
            <a:srgbClr val="F5F8FF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255264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SQL / Databases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32552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Quicksand"/>
              </a:rPr>
              <a:t>?  INFO MISSING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25526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6B66"/>
                </a:solidFill>
                <a:latin typeface="Quicksand"/>
              </a:rPr>
              <a:t>Provide info in profile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803904"/>
            <a:ext cx="3703320" cy="621792"/>
          </a:xfrm>
          <a:prstGeom prst="rect">
            <a:avLst/>
          </a:prstGeom>
          <a:solidFill>
            <a:srgbClr val="FFF5F5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1960" y="3803904"/>
            <a:ext cx="3383280" cy="621792"/>
          </a:xfrm>
          <a:prstGeom prst="rect">
            <a:avLst/>
          </a:prstGeom>
          <a:solidFill>
            <a:srgbClr val="FFF5F5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3803904"/>
            <a:ext cx="4114800" cy="621792"/>
          </a:xfrm>
          <a:prstGeom prst="rect">
            <a:avLst/>
          </a:prstGeom>
          <a:solidFill>
            <a:srgbClr val="FFF5F5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91363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Machine 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3913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C2626"/>
                </a:solidFill>
                <a:latin typeface="Quicksand"/>
              </a:rPr>
              <a:t>⚠  CONFIRMED GAP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91363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6B66"/>
                </a:solidFill>
                <a:latin typeface="Quicksand"/>
              </a:rPr>
              <a:t>Focus in preparation plan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4462272"/>
            <a:ext cx="3703320" cy="621792"/>
          </a:xfrm>
          <a:prstGeom prst="rect">
            <a:avLst/>
          </a:prstGeom>
          <a:solidFill>
            <a:srgbClr val="FFF5F5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51960" y="4462272"/>
            <a:ext cx="3383280" cy="621792"/>
          </a:xfrm>
          <a:prstGeom prst="rect">
            <a:avLst/>
          </a:prstGeom>
          <a:solidFill>
            <a:srgbClr val="FFF5F5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4462272"/>
            <a:ext cx="4114800" cy="621792"/>
          </a:xfrm>
          <a:prstGeom prst="rect">
            <a:avLst/>
          </a:prstGeom>
          <a:solidFill>
            <a:srgbClr val="FFF5F5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57200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Cloud Computing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C2626"/>
                </a:solidFill>
                <a:latin typeface="Quicksand"/>
              </a:rPr>
              <a:t>⚠  CONFIRMED GAP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45720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6B66"/>
                </a:solidFill>
                <a:latin typeface="Quicksand"/>
              </a:rPr>
              <a:t>AWS/Azure fundamentals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5120640"/>
            <a:ext cx="3703320" cy="621792"/>
          </a:xfrm>
          <a:prstGeom prst="rect">
            <a:avLst/>
          </a:prstGeom>
          <a:solidFill>
            <a:srgbClr val="F5F8FF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51960" y="5120640"/>
            <a:ext cx="3383280" cy="621792"/>
          </a:xfrm>
          <a:prstGeom prst="rect">
            <a:avLst/>
          </a:prstGeom>
          <a:solidFill>
            <a:srgbClr val="F5F8FF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0" y="5120640"/>
            <a:ext cx="4114800" cy="621792"/>
          </a:xfrm>
          <a:prstGeom prst="rect">
            <a:avLst/>
          </a:prstGeom>
          <a:solidFill>
            <a:srgbClr val="F5F8FF"/>
          </a:solidFill>
          <a:ln w="9525">
            <a:solidFill>
              <a:srgbClr val="E3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23036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Communication Skills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3400" y="52303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Quicksand"/>
              </a:rPr>
              <a:t>?  INFO MISSING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523036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6B66"/>
                </a:solidFill>
                <a:latin typeface="Quicksand"/>
              </a:rPr>
              <a:t>Add to profile or resume</a:t>
            </a:r>
          </a:p>
        </p:txBody>
      </p:sp>
      <p:sp>
        <p:nvSpPr>
          <p:cNvPr id="56" name="Rectangle 55"/>
          <p:cNvSpPr/>
          <p:nvPr/>
        </p:nvSpPr>
        <p:spPr>
          <a:xfrm rot="120000">
            <a:off x="9784080" y="2286000"/>
            <a:ext cx="2057400" cy="1005840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only CONFIRMED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gaps go into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prep plan 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example rows shown above are illustrative. actual output is AI-generated based on student profile.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Quicksand"/>
              </a:rPr>
              <a:t>FEATURE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Personalised Preparation Plan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28700" y="1143762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600200" y="1134872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171700" y="1124712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743200" y="1114552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314700" y="1105662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886200" y="1114552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457700" y="1124712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08000">
            <a:off x="5029200" y="1134872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492000">
            <a:off x="5600700" y="1143762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08000">
            <a:off x="6172200" y="1134872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1492000">
            <a:off x="6743700" y="1124712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Quicksand"/>
              </a:rPr>
              <a:t>Inputs: complete profile + target role + confirmed skill gaps only → AI generates a structured, phase-based personalised 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1965960"/>
            <a:ext cx="11338560" cy="74980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093976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563EB"/>
                </a:solidFill>
                <a:latin typeface="Permanent Marker"/>
              </a:rPr>
              <a:t>Phase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039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Permanent Marker"/>
              </a:rPr>
              <a:t>Foundation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37744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6B66"/>
                </a:solidFill>
                <a:latin typeface="Quicksand"/>
              </a:rPr>
              <a:t>Core concepts &amp; knowledge prerequisites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834640"/>
            <a:ext cx="11338560" cy="749808"/>
          </a:xfrm>
          <a:prstGeom prst="roundRect">
            <a:avLst/>
          </a:prstGeom>
          <a:solidFill>
            <a:srgbClr val="F0FBF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962656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Permanent Marker"/>
              </a:rPr>
              <a:t>Phase 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907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Permanent Marker"/>
              </a:rPr>
              <a:t>Core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24612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6B66"/>
                </a:solidFill>
                <a:latin typeface="Quicksand"/>
              </a:rPr>
              <a:t>Targeted development of confirmed gap skills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703320"/>
            <a:ext cx="11338560" cy="74980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31336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563EB"/>
                </a:solidFill>
                <a:latin typeface="Permanent Marker"/>
              </a:rPr>
              <a:t>Phase III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776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Permanent Marker"/>
              </a:rPr>
              <a:t>Role Preparation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11480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6B66"/>
                </a:solidFill>
                <a:latin typeface="Quicksand"/>
              </a:rPr>
              <a:t>Role-specific technical topics for target company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572000"/>
            <a:ext cx="11338560" cy="749808"/>
          </a:xfrm>
          <a:prstGeom prst="roundRect">
            <a:avLst/>
          </a:prstGeom>
          <a:solidFill>
            <a:srgbClr val="FFF3F3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700016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  <a:latin typeface="Permanent Marker"/>
              </a:rPr>
              <a:t>Phase IV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6451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Permanent Marker"/>
              </a:rPr>
              <a:t>Interview Prep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98348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6B66"/>
                </a:solidFill>
                <a:latin typeface="Quicksand"/>
              </a:rPr>
              <a:t>Aptitude, HR rounds, technical interview practice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440680"/>
            <a:ext cx="11338560" cy="749808"/>
          </a:xfrm>
          <a:prstGeom prst="roundRect">
            <a:avLst/>
          </a:prstGeom>
          <a:solidFill>
            <a:srgbClr val="F0FBF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568696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Permanent Marker"/>
              </a:rPr>
              <a:t>Phase 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513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Permanent Marker"/>
              </a:rPr>
              <a:t>Final Readiness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8521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6B66"/>
                </a:solidFill>
                <a:latin typeface="Quicksand"/>
              </a:rPr>
              <a:t>Mock tests, revision strategy, and confidence building</a:t>
            </a:r>
          </a:p>
        </p:txBody>
      </p:sp>
      <p:sp>
        <p:nvSpPr>
          <p:cNvPr id="38" name="Rectangle 37"/>
          <p:cNvSpPr/>
          <p:nvPr/>
        </p:nvSpPr>
        <p:spPr>
          <a:xfrm rot="21510000">
            <a:off x="9646920" y="1325880"/>
            <a:ext cx="2194560" cy="1828800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prep focuses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ONLY on gaps.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no wasted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time on skills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already present 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route: POST /api/analysis/preparation  ·  result stored in analyses table  ·  history viewable on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Quicksand"/>
              </a:rPr>
              <a:t>FEATURE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AI Placement Assistant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51560" y="114376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645920" y="113487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240280" y="112471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834640" y="111455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429000" y="110566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4023360" y="111455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617720" y="112471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08000">
            <a:off x="5212080" y="113487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492000">
            <a:off x="5806440" y="114376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Quicksand"/>
              </a:rPr>
              <a:t>Students ask natural-language placement questions. The AI responds with knowledge-grounded answers using full profile context and conversation history.</a:t>
            </a:r>
          </a:p>
        </p:txBody>
      </p:sp>
      <p:sp>
        <p:nvSpPr>
          <p:cNvPr id="16" name="Rectangle 15"/>
          <p:cNvSpPr/>
          <p:nvPr/>
        </p:nvSpPr>
        <p:spPr>
          <a:xfrm rot="90000">
            <a:off x="4114800" y="2011680"/>
            <a:ext cx="6858000" cy="914400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What skills do I need for a Data Analyst role at Microsoft?</a:t>
            </a:r>
          </a:p>
        </p:txBody>
      </p:sp>
      <p:sp>
        <p:nvSpPr>
          <p:cNvPr id="17" name="Rectangle 16"/>
          <p:cNvSpPr/>
          <p:nvPr/>
        </p:nvSpPr>
        <p:spPr>
          <a:xfrm rot="21510000">
            <a:off x="457200" y="3063240"/>
            <a:ext cx="6858000" cy="1234440"/>
          </a:xfrm>
          <a:prstGeom prst="rect">
            <a:avLst/>
          </a:prstGeom>
          <a:solidFill>
            <a:srgbClr val="E8F0FF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Based on your profile and our placement knowledge: Python ✓ (you have it), SQL ? (not mentioned), Power BI ⚠ (likely gap). I'd recommend starting with SQL fundamentals.</a:t>
            </a:r>
          </a:p>
        </p:txBody>
      </p:sp>
      <p:sp>
        <p:nvSpPr>
          <p:cNvPr id="18" name="Rectangle 17"/>
          <p:cNvSpPr/>
          <p:nvPr/>
        </p:nvSpPr>
        <p:spPr>
          <a:xfrm rot="90000">
            <a:off x="4114800" y="4434840"/>
            <a:ext cx="6858000" cy="914400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Give me a 30-day aptitude preparation plan.</a:t>
            </a:r>
          </a:p>
        </p:txBody>
      </p:sp>
      <p:sp>
        <p:nvSpPr>
          <p:cNvPr id="19" name="Rectangle 18"/>
          <p:cNvSpPr/>
          <p:nvPr/>
        </p:nvSpPr>
        <p:spPr>
          <a:xfrm rot="21510000">
            <a:off x="457200" y="5486400"/>
            <a:ext cx="6858000" cy="1234440"/>
          </a:xfrm>
          <a:prstGeom prst="rect">
            <a:avLst/>
          </a:prstGeom>
          <a:solidFill>
            <a:srgbClr val="E8F0FF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Week 1: Quantitative Aptitude basics (percentages, ratios, speed-time)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Week 2: Logical Reasoning patterns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Week 3: Verbal Ability + reading comprehension</a:t>
            </a:r>
          </a:p>
          <a:p>
            <a:r>
              <a:rPr sz="1050" b="0">
                <a:solidFill>
                  <a:srgbClr val="111111"/>
                </a:solidFill>
                <a:latin typeface="Kalam"/>
              </a:rPr>
              <a:t>Week 4: Full mock tests with time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6"/>
                </a:solidFill>
                <a:latin typeface="Permanent Marker"/>
              </a:rPr>
              <a:t>context sent</a:t>
            </a:r>
          </a:p>
          <a:p>
            <a:pPr algn="l"/>
            <a:r>
              <a:rPr sz="1050" b="0" i="0">
                <a:solidFill>
                  <a:srgbClr val="6B6B66"/>
                </a:solidFill>
                <a:latin typeface="Permanent Marker"/>
              </a:rPr>
              <a:t>to AI agent:</a:t>
            </a:r>
          </a:p>
        </p:txBody>
      </p:sp>
      <p:sp>
        <p:nvSpPr>
          <p:cNvPr id="21" name="Oval 20"/>
          <p:cNvSpPr/>
          <p:nvPr/>
        </p:nvSpPr>
        <p:spPr>
          <a:xfrm>
            <a:off x="9509760" y="2587752"/>
            <a:ext cx="114300" cy="1143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65792" y="2514600"/>
            <a:ext cx="2075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Quicksand"/>
              </a:rPr>
              <a:t>student profile</a:t>
            </a:r>
          </a:p>
        </p:txBody>
      </p:sp>
      <p:sp>
        <p:nvSpPr>
          <p:cNvPr id="23" name="Oval 22"/>
          <p:cNvSpPr/>
          <p:nvPr/>
        </p:nvSpPr>
        <p:spPr>
          <a:xfrm>
            <a:off x="9509760" y="3044952"/>
            <a:ext cx="114300" cy="1143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65792" y="2971800"/>
            <a:ext cx="2075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Quicksand"/>
              </a:rPr>
              <a:t>last 6 messages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0" y="3502152"/>
            <a:ext cx="114300" cy="1143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3429000"/>
            <a:ext cx="2075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Quicksand"/>
              </a:rPr>
              <a:t>skills list</a:t>
            </a:r>
          </a:p>
        </p:txBody>
      </p:sp>
      <p:sp>
        <p:nvSpPr>
          <p:cNvPr id="27" name="Oval 26"/>
          <p:cNvSpPr/>
          <p:nvPr/>
        </p:nvSpPr>
        <p:spPr>
          <a:xfrm>
            <a:off x="9509760" y="3959352"/>
            <a:ext cx="114300" cy="1143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5792" y="3886200"/>
            <a:ext cx="2075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Quicksand"/>
              </a:rPr>
              <a:t>resume text</a:t>
            </a:r>
          </a:p>
        </p:txBody>
      </p:sp>
      <p:sp>
        <p:nvSpPr>
          <p:cNvPr id="29" name="Oval 28"/>
          <p:cNvSpPr/>
          <p:nvPr/>
        </p:nvSpPr>
        <p:spPr>
          <a:xfrm>
            <a:off x="9509760" y="4416552"/>
            <a:ext cx="114300" cy="1143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5792" y="4343400"/>
            <a:ext cx="2075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Quicksand"/>
              </a:rPr>
              <a:t>certifications</a:t>
            </a:r>
          </a:p>
        </p:txBody>
      </p:sp>
      <p:sp>
        <p:nvSpPr>
          <p:cNvPr id="31" name="Oval 30"/>
          <p:cNvSpPr/>
          <p:nvPr/>
        </p:nvSpPr>
        <p:spPr>
          <a:xfrm>
            <a:off x="9509760" y="4873752"/>
            <a:ext cx="114300" cy="1143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65792" y="4800600"/>
            <a:ext cx="2075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Quicksand"/>
              </a:rPr>
              <a:t>conversation 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route: POST /api/chat  ·  history: GET /api/chat/history  ·  stored in chat_messages table (role: user|assistant)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Quicksand"/>
              </a:rPr>
              <a:t>RESUME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Resume Intelligence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28700" y="114376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600200" y="113487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171700" y="112471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743200" y="111455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314700" y="110566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886200" y="111455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457700" y="112471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1508760"/>
            <a:ext cx="1828800" cy="292608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5819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Upload</a:t>
            </a:r>
          </a:p>
        </p:txBody>
      </p:sp>
      <p:sp>
        <p:nvSpPr>
          <p:cNvPr id="15" name="Rectangle 14"/>
          <p:cNvSpPr/>
          <p:nvPr/>
        </p:nvSpPr>
        <p:spPr>
          <a:xfrm rot="108000">
            <a:off x="502920" y="1985264"/>
            <a:ext cx="2844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1492000">
            <a:off x="762000" y="1994154"/>
            <a:ext cx="2844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108000">
            <a:off x="1021080" y="1985264"/>
            <a:ext cx="2844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1492000">
            <a:off x="1280160" y="1975104"/>
            <a:ext cx="2844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108000">
            <a:off x="1539240" y="1964944"/>
            <a:ext cx="2844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1492000">
            <a:off x="1798320" y="1956054"/>
            <a:ext cx="2844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PDF or DOCX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≤ 5 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7432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1508760"/>
            <a:ext cx="1828800" cy="292608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15819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Permanent Marker"/>
              </a:rPr>
              <a:t>Validate</a:t>
            </a:r>
          </a:p>
        </p:txBody>
      </p:sp>
      <p:sp>
        <p:nvSpPr>
          <p:cNvPr id="25" name="Rectangle 24"/>
          <p:cNvSpPr/>
          <p:nvPr/>
        </p:nvSpPr>
        <p:spPr>
          <a:xfrm rot="108000">
            <a:off x="2468880" y="1985264"/>
            <a:ext cx="2844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1492000">
            <a:off x="2727960" y="1994154"/>
            <a:ext cx="2844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108000">
            <a:off x="2987040" y="1985264"/>
            <a:ext cx="2844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1492000">
            <a:off x="3246120" y="1975104"/>
            <a:ext cx="2844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108000">
            <a:off x="3505200" y="1964944"/>
            <a:ext cx="2844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1492000">
            <a:off x="3764280" y="1956054"/>
            <a:ext cx="2844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MIME check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extension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27432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1508760"/>
            <a:ext cx="1828800" cy="292608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15819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Store</a:t>
            </a:r>
          </a:p>
        </p:txBody>
      </p:sp>
      <p:sp>
        <p:nvSpPr>
          <p:cNvPr id="35" name="Rectangle 34"/>
          <p:cNvSpPr/>
          <p:nvPr/>
        </p:nvSpPr>
        <p:spPr>
          <a:xfrm rot="108000">
            <a:off x="4434840" y="1985264"/>
            <a:ext cx="2844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1492000">
            <a:off x="4693920" y="1994154"/>
            <a:ext cx="2844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108000">
            <a:off x="4953000" y="1985264"/>
            <a:ext cx="2844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1492000">
            <a:off x="5212080" y="1975104"/>
            <a:ext cx="2844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108000">
            <a:off x="5471160" y="1964944"/>
            <a:ext cx="2844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21492000">
            <a:off x="5730240" y="1956054"/>
            <a:ext cx="2844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Saved with unique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filename to disk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27432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1508760"/>
            <a:ext cx="1828800" cy="292608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15819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  <a:latin typeface="Permanent Marker"/>
              </a:rPr>
              <a:t>Extract</a:t>
            </a:r>
          </a:p>
        </p:txBody>
      </p:sp>
      <p:sp>
        <p:nvSpPr>
          <p:cNvPr id="45" name="Rectangle 44"/>
          <p:cNvSpPr/>
          <p:nvPr/>
        </p:nvSpPr>
        <p:spPr>
          <a:xfrm rot="108000">
            <a:off x="6400800" y="1985264"/>
            <a:ext cx="2844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1492000">
            <a:off x="6659880" y="1994154"/>
            <a:ext cx="2844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 rot="108000">
            <a:off x="6918960" y="1985264"/>
            <a:ext cx="2844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21492000">
            <a:off x="7178040" y="1975104"/>
            <a:ext cx="2844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108000">
            <a:off x="7437120" y="1964944"/>
            <a:ext cx="2844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1492000">
            <a:off x="7696200" y="1956054"/>
            <a:ext cx="2844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pdf-parse (PDF)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mammoth (DOCX)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plain text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27432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0" y="1508760"/>
            <a:ext cx="1828800" cy="292608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66760" y="15819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Permanent Marker"/>
              </a:rPr>
              <a:t>Persist</a:t>
            </a:r>
          </a:p>
        </p:txBody>
      </p:sp>
      <p:sp>
        <p:nvSpPr>
          <p:cNvPr id="55" name="Rectangle 54"/>
          <p:cNvSpPr/>
          <p:nvPr/>
        </p:nvSpPr>
        <p:spPr>
          <a:xfrm rot="108000">
            <a:off x="8366760" y="1985264"/>
            <a:ext cx="2844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 rot="21492000">
            <a:off x="8625840" y="1994154"/>
            <a:ext cx="2844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 rot="108000">
            <a:off x="8884920" y="1985264"/>
            <a:ext cx="2844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 rot="21492000">
            <a:off x="9144000" y="1975104"/>
            <a:ext cx="2844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 rot="108000">
            <a:off x="9403080" y="1964944"/>
            <a:ext cx="2844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 rot="21492000">
            <a:off x="9662160" y="1956054"/>
            <a:ext cx="28448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extracted_text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stored in SQLite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resumes table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27432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195560" y="1508760"/>
            <a:ext cx="1828800" cy="292608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32720" y="15819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  <a:latin typeface="Permanent Marker"/>
              </a:rPr>
              <a:t>Integrate</a:t>
            </a:r>
          </a:p>
        </p:txBody>
      </p:sp>
      <p:sp>
        <p:nvSpPr>
          <p:cNvPr id="65" name="Rectangle 64"/>
          <p:cNvSpPr/>
          <p:nvPr/>
        </p:nvSpPr>
        <p:spPr>
          <a:xfrm rot="108000">
            <a:off x="10332720" y="1985264"/>
            <a:ext cx="2844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 rot="21492000">
            <a:off x="10591800" y="1994154"/>
            <a:ext cx="2844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 rot="108000">
            <a:off x="10850880" y="1985264"/>
            <a:ext cx="2844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 rot="21492000">
            <a:off x="11109960" y="1975104"/>
            <a:ext cx="2844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 rot="108000">
            <a:off x="11369040" y="1964944"/>
            <a:ext cx="2844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 rot="21492000">
            <a:off x="11628120" y="1956054"/>
            <a:ext cx="2844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7844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First 3000 chars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included in every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AI call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466344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• PDF Processing: pdf-parse library  ·  extracts text layer from searchable PDFs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466344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• DOCX Processing: mammoth library  ·  converts Word documents to plain text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532180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• File Handling: multer v2.4  ·  diskStorage  ·  5 MB limit  ·  MIME + extension validate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532180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• AI Use: resume text prepended to all eligibility, skill-gap &amp; prep prompts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scanned/image PDFs (no text layer) will not extract. only text-based PDFs and DOCX are supported.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Quicksand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Student User Journey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16000" y="114376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574800" y="113487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133600" y="112471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692400" y="111455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251200" y="110566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810000" y="111455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368800" y="112471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08000">
            <a:off x="4927600" y="1134872"/>
            <a:ext cx="584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" y="13716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7160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ermanent Marker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1417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Create Account</a:t>
            </a:r>
          </a:p>
        </p:txBody>
      </p:sp>
      <p:sp>
        <p:nvSpPr>
          <p:cNvPr id="17" name="Rectangle 16"/>
          <p:cNvSpPr/>
          <p:nvPr/>
        </p:nvSpPr>
        <p:spPr>
          <a:xfrm rot="108000">
            <a:off x="896112" y="1848104"/>
            <a:ext cx="491744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1492000">
            <a:off x="1362456" y="1856994"/>
            <a:ext cx="491744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108000">
            <a:off x="1828800" y="1848104"/>
            <a:ext cx="491744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1492000">
            <a:off x="2295144" y="1837944"/>
            <a:ext cx="491744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108000">
            <a:off x="2761488" y="1827784"/>
            <a:ext cx="491744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196596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Register email + password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JWT session stored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1783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3337560" y="1371600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137160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ermanent Marker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67912" y="1417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Permanent Marker"/>
              </a:rPr>
              <a:t>Build Profile</a:t>
            </a:r>
          </a:p>
        </p:txBody>
      </p:sp>
      <p:sp>
        <p:nvSpPr>
          <p:cNvPr id="27" name="Rectangle 26"/>
          <p:cNvSpPr/>
          <p:nvPr/>
        </p:nvSpPr>
        <p:spPr>
          <a:xfrm rot="108000">
            <a:off x="3867912" y="1848104"/>
            <a:ext cx="49174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1492000">
            <a:off x="4334256" y="1856994"/>
            <a:ext cx="49174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108000">
            <a:off x="4800600" y="1848104"/>
            <a:ext cx="49174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1492000">
            <a:off x="5266944" y="1837944"/>
            <a:ext cx="49174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108000">
            <a:off x="5733288" y="1827784"/>
            <a:ext cx="49174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67912" y="196596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4-step onboarding: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Academic · Skills · Projects · Career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0488" y="1783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34" name="Oval 33"/>
          <p:cNvSpPr/>
          <p:nvPr/>
        </p:nvSpPr>
        <p:spPr>
          <a:xfrm>
            <a:off x="6309360" y="13716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137160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ermanent Marker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1417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Upload Resume</a:t>
            </a:r>
          </a:p>
        </p:txBody>
      </p:sp>
      <p:sp>
        <p:nvSpPr>
          <p:cNvPr id="37" name="Rectangle 36"/>
          <p:cNvSpPr/>
          <p:nvPr/>
        </p:nvSpPr>
        <p:spPr>
          <a:xfrm rot="108000">
            <a:off x="6839712" y="1848104"/>
            <a:ext cx="491744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1492000">
            <a:off x="7306056" y="1856994"/>
            <a:ext cx="491744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108000">
            <a:off x="7772400" y="1848104"/>
            <a:ext cx="491744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21492000">
            <a:off x="8238744" y="1837944"/>
            <a:ext cx="491744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 rot="108000">
            <a:off x="8705088" y="1827784"/>
            <a:ext cx="491744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9712" y="196596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PDF or DOCX upload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Text auto-extracted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62288" y="1783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44" name="Oval 43"/>
          <p:cNvSpPr/>
          <p:nvPr/>
        </p:nvSpPr>
        <p:spPr>
          <a:xfrm>
            <a:off x="9281160" y="1371600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137160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ermanent Marker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11512" y="1417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  <a:latin typeface="Permanent Marker"/>
              </a:rPr>
              <a:t>Select Target Role</a:t>
            </a:r>
          </a:p>
        </p:txBody>
      </p:sp>
      <p:sp>
        <p:nvSpPr>
          <p:cNvPr id="47" name="Rectangle 46"/>
          <p:cNvSpPr/>
          <p:nvPr/>
        </p:nvSpPr>
        <p:spPr>
          <a:xfrm rot="108000">
            <a:off x="9811512" y="1848104"/>
            <a:ext cx="491744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21492000">
            <a:off x="10277856" y="1856994"/>
            <a:ext cx="491744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108000">
            <a:off x="10744200" y="1848104"/>
            <a:ext cx="491744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1492000">
            <a:off x="11210544" y="1837944"/>
            <a:ext cx="491744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 rot="108000">
            <a:off x="11676888" y="1827784"/>
            <a:ext cx="491744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11512" y="196596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Target company + role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Stored in profile</a:t>
            </a:r>
          </a:p>
        </p:txBody>
      </p:sp>
      <p:sp>
        <p:nvSpPr>
          <p:cNvPr id="53" name="Oval 52"/>
          <p:cNvSpPr/>
          <p:nvPr/>
        </p:nvSpPr>
        <p:spPr>
          <a:xfrm>
            <a:off x="365760" y="3749040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37490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ermanent Marker"/>
              </a:rP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" y="3794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Permanent Marker"/>
              </a:rPr>
              <a:t>Eligibility Check</a:t>
            </a:r>
          </a:p>
        </p:txBody>
      </p:sp>
      <p:sp>
        <p:nvSpPr>
          <p:cNvPr id="56" name="Rectangle 55"/>
          <p:cNvSpPr/>
          <p:nvPr/>
        </p:nvSpPr>
        <p:spPr>
          <a:xfrm rot="108000">
            <a:off x="896112" y="4225544"/>
            <a:ext cx="49174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 rot="21492000">
            <a:off x="1362456" y="4234434"/>
            <a:ext cx="49174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 rot="108000">
            <a:off x="1828800" y="4225544"/>
            <a:ext cx="49174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 rot="21492000">
            <a:off x="2295144" y="4215384"/>
            <a:ext cx="49174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 rot="108000">
            <a:off x="2761488" y="4205224"/>
            <a:ext cx="49174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6112" y="434340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AI classifies each criterion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Satisfied/Missing/Gap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18688" y="41605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63" name="Oval 62"/>
          <p:cNvSpPr/>
          <p:nvPr/>
        </p:nvSpPr>
        <p:spPr>
          <a:xfrm>
            <a:off x="3337560" y="374904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37560" y="37490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ermanent Marker"/>
              </a:rPr>
              <a:t>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67912" y="3794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Skill Gap Analysis</a:t>
            </a:r>
          </a:p>
        </p:txBody>
      </p:sp>
      <p:sp>
        <p:nvSpPr>
          <p:cNvPr id="66" name="Rectangle 65"/>
          <p:cNvSpPr/>
          <p:nvPr/>
        </p:nvSpPr>
        <p:spPr>
          <a:xfrm rot="108000">
            <a:off x="3867912" y="4225544"/>
            <a:ext cx="491744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 rot="21492000">
            <a:off x="4334256" y="4234434"/>
            <a:ext cx="491744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 rot="108000">
            <a:off x="4800600" y="4225544"/>
            <a:ext cx="491744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 rot="21492000">
            <a:off x="5266944" y="4215384"/>
            <a:ext cx="491744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 rot="108000">
            <a:off x="5733288" y="4205224"/>
            <a:ext cx="491744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67912" y="434340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Role vs student comparison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Confirmed gaps identified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90488" y="41605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73" name="Oval 72"/>
          <p:cNvSpPr/>
          <p:nvPr/>
        </p:nvSpPr>
        <p:spPr>
          <a:xfrm>
            <a:off x="6309360" y="3749040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37490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ermanent Marker"/>
              </a:rPr>
              <a:t>07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9712" y="3794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  <a:latin typeface="Permanent Marker"/>
              </a:rPr>
              <a:t>Preparation Plan</a:t>
            </a:r>
          </a:p>
        </p:txBody>
      </p:sp>
      <p:sp>
        <p:nvSpPr>
          <p:cNvPr id="76" name="Rectangle 75"/>
          <p:cNvSpPr/>
          <p:nvPr/>
        </p:nvSpPr>
        <p:spPr>
          <a:xfrm rot="108000">
            <a:off x="6839712" y="4225544"/>
            <a:ext cx="491744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 rot="21492000">
            <a:off x="7306056" y="4234434"/>
            <a:ext cx="491744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 rot="108000">
            <a:off x="7772400" y="4225544"/>
            <a:ext cx="491744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 rot="21492000">
            <a:off x="8238744" y="4215384"/>
            <a:ext cx="491744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 rot="108000">
            <a:off x="8705088" y="4205224"/>
            <a:ext cx="491744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39712" y="434340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5-phase personalised plan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Based on gaps only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62288" y="41605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6"/>
                </a:solidFill>
                <a:latin typeface="Permanent Marker"/>
              </a:rPr>
              <a:t>→</a:t>
            </a:r>
          </a:p>
        </p:txBody>
      </p:sp>
      <p:sp>
        <p:nvSpPr>
          <p:cNvPr id="83" name="Oval 82"/>
          <p:cNvSpPr/>
          <p:nvPr/>
        </p:nvSpPr>
        <p:spPr>
          <a:xfrm>
            <a:off x="9281160" y="3749040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81160" y="37490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ermanent Marker"/>
              </a:rPr>
              <a:t>08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11512" y="3794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Permanent Marker"/>
              </a:rPr>
              <a:t>AI Chat Assistant</a:t>
            </a:r>
          </a:p>
        </p:txBody>
      </p:sp>
      <p:sp>
        <p:nvSpPr>
          <p:cNvPr id="86" name="Rectangle 85"/>
          <p:cNvSpPr/>
          <p:nvPr/>
        </p:nvSpPr>
        <p:spPr>
          <a:xfrm rot="108000">
            <a:off x="9811512" y="4225544"/>
            <a:ext cx="49174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 rot="21492000">
            <a:off x="10277856" y="4234434"/>
            <a:ext cx="49174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 rot="108000">
            <a:off x="10744200" y="4225544"/>
            <a:ext cx="49174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 rot="21492000">
            <a:off x="11210544" y="4215384"/>
            <a:ext cx="49174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 rot="108000">
            <a:off x="11676888" y="4205224"/>
            <a:ext cx="491744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811512" y="434340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Ask placement questions</a:t>
            </a:r>
          </a:p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Context-aware conversation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Quicksand"/>
              </a:rPr>
              <a:t>WHAT WE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969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28700" y="1143762"/>
            <a:ext cx="5969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600200" y="1134872"/>
            <a:ext cx="5969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171700" y="1124712"/>
            <a:ext cx="5969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743200" y="1114552"/>
            <a:ext cx="5969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314700" y="1105662"/>
            <a:ext cx="5969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886200" y="1114552"/>
            <a:ext cx="5969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457700" y="1124712"/>
            <a:ext cx="5969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1417320"/>
            <a:ext cx="3703320" cy="219456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49047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Frontend</a:t>
            </a:r>
          </a:p>
        </p:txBody>
      </p:sp>
      <p:sp>
        <p:nvSpPr>
          <p:cNvPr id="15" name="Rectangle 14"/>
          <p:cNvSpPr/>
          <p:nvPr/>
        </p:nvSpPr>
        <p:spPr>
          <a:xfrm rot="108000">
            <a:off x="502920" y="189382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1492000">
            <a:off x="1074420" y="190271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108000">
            <a:off x="1645920" y="189382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1492000">
            <a:off x="2217420" y="188366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108000">
            <a:off x="2788920" y="187350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1492000">
            <a:off x="3360420" y="186461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React 18  →  UI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500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TypeScript  →  Type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73405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Vite 5  →  Build / dev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181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Tailwind CSS 3  →  Styling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502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React Router v6  → 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886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lucide-react  →  Icons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1417320"/>
            <a:ext cx="3703320" cy="219456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149047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Permanent Marker"/>
              </a:rPr>
              <a:t>Backend</a:t>
            </a:r>
          </a:p>
        </p:txBody>
      </p:sp>
      <p:sp>
        <p:nvSpPr>
          <p:cNvPr id="29" name="Rectangle 28"/>
          <p:cNvSpPr/>
          <p:nvPr/>
        </p:nvSpPr>
        <p:spPr>
          <a:xfrm rot="108000">
            <a:off x="4434840" y="1893824"/>
            <a:ext cx="5969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1492000">
            <a:off x="5006340" y="1902714"/>
            <a:ext cx="5969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108000">
            <a:off x="5577840" y="1893824"/>
            <a:ext cx="5969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21492000">
            <a:off x="6149340" y="1883664"/>
            <a:ext cx="5969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108000">
            <a:off x="6720840" y="1873504"/>
            <a:ext cx="5969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21492000">
            <a:off x="7292340" y="1864614"/>
            <a:ext cx="596900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Express.js 4  →  REST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23500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TypeScript  →  Type safety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273405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ts-node-dev  →  Hot reload dev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31181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express-validator  → 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3502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helmet + cors  →  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3886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morgan  →  HTTP logging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1417320"/>
            <a:ext cx="3703320" cy="219456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149047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Permanent Marker"/>
              </a:rPr>
              <a:t>Database &amp; Auth</a:t>
            </a:r>
          </a:p>
        </p:txBody>
      </p:sp>
      <p:sp>
        <p:nvSpPr>
          <p:cNvPr id="43" name="Rectangle 42"/>
          <p:cNvSpPr/>
          <p:nvPr/>
        </p:nvSpPr>
        <p:spPr>
          <a:xfrm rot="108000">
            <a:off x="8366760" y="1893824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1492000">
            <a:off x="8938260" y="1902714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108000">
            <a:off x="9509760" y="1893824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1492000">
            <a:off x="10081260" y="1883664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 rot="108000">
            <a:off x="10652760" y="1873504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21492000">
            <a:off x="11224260" y="1864614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SQLite (better-sqlite3 v13)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23500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8 tables, WAL mode, FK constraints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273405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jsonwebtoken  →  JWT auth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31181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bcryptjs  →  Password hashing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3502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Stateless JWT — no sessions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3794760"/>
            <a:ext cx="3703320" cy="219456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386791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  <a:latin typeface="Permanent Marker"/>
              </a:rPr>
              <a:t>AI / Cloud</a:t>
            </a:r>
          </a:p>
        </p:txBody>
      </p:sp>
      <p:sp>
        <p:nvSpPr>
          <p:cNvPr id="56" name="Rectangle 55"/>
          <p:cNvSpPr/>
          <p:nvPr/>
        </p:nvSpPr>
        <p:spPr>
          <a:xfrm rot="108000">
            <a:off x="502920" y="4271264"/>
            <a:ext cx="5969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 rot="21492000">
            <a:off x="1074420" y="4280154"/>
            <a:ext cx="5969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 rot="108000">
            <a:off x="1645920" y="4271264"/>
            <a:ext cx="5969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 rot="21492000">
            <a:off x="2217420" y="4261104"/>
            <a:ext cx="5969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 rot="108000">
            <a:off x="2788920" y="4250944"/>
            <a:ext cx="5969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 rot="21492000">
            <a:off x="3360420" y="4242054"/>
            <a:ext cx="5969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4343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@azure/ai-projects  v2.7.0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727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AIProjectClient  →  Foundry SDK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51114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CampusPlacementAgent  (pre-built)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54955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gpt-4.1-mini  →  deployed model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879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Responses API  →  inference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263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DefaultAzureCredential  →  auth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97680" y="3794760"/>
            <a:ext cx="3703320" cy="219456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34840" y="386791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Docs</a:t>
            </a:r>
          </a:p>
        </p:txBody>
      </p:sp>
      <p:sp>
        <p:nvSpPr>
          <p:cNvPr id="70" name="Rectangle 69"/>
          <p:cNvSpPr/>
          <p:nvPr/>
        </p:nvSpPr>
        <p:spPr>
          <a:xfrm rot="108000">
            <a:off x="4434840" y="427126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 rot="21492000">
            <a:off x="5006340" y="428015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 rot="108000">
            <a:off x="5577840" y="427126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 rot="21492000">
            <a:off x="6149340" y="426110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 rot="108000">
            <a:off x="6720840" y="425094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 rot="21492000">
            <a:off x="7292340" y="4242054"/>
            <a:ext cx="5969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80560" y="4343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multer v2.4  →  file upload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80560" y="4727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pdf-parse  →  PDF extraction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80560" y="51114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mammoth  →  DOCX extraction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80560" y="54955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5 MB limit  ·  MIME validated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229600" y="3794760"/>
            <a:ext cx="3703320" cy="219456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6B6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66760" y="386791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6"/>
                </a:solidFill>
                <a:latin typeface="Permanent Marker"/>
              </a:rPr>
              <a:t>Dev Tools</a:t>
            </a:r>
          </a:p>
        </p:txBody>
      </p:sp>
      <p:sp>
        <p:nvSpPr>
          <p:cNvPr id="82" name="Rectangle 81"/>
          <p:cNvSpPr/>
          <p:nvPr/>
        </p:nvSpPr>
        <p:spPr>
          <a:xfrm rot="108000">
            <a:off x="8366760" y="4271264"/>
            <a:ext cx="596900" cy="76200"/>
          </a:xfrm>
          <a:prstGeom prst="rect">
            <a:avLst/>
          </a:prstGeom>
          <a:solidFill>
            <a:srgbClr val="6B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 rot="21492000">
            <a:off x="8938260" y="4280154"/>
            <a:ext cx="596900" cy="76200"/>
          </a:xfrm>
          <a:prstGeom prst="rect">
            <a:avLst/>
          </a:prstGeom>
          <a:solidFill>
            <a:srgbClr val="6B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 rot="108000">
            <a:off x="9509760" y="4271264"/>
            <a:ext cx="596900" cy="76200"/>
          </a:xfrm>
          <a:prstGeom prst="rect">
            <a:avLst/>
          </a:prstGeom>
          <a:solidFill>
            <a:srgbClr val="6B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 rot="21492000">
            <a:off x="10081260" y="4261104"/>
            <a:ext cx="596900" cy="76200"/>
          </a:xfrm>
          <a:prstGeom prst="rect">
            <a:avLst/>
          </a:prstGeom>
          <a:solidFill>
            <a:srgbClr val="6B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 rot="108000">
            <a:off x="10652760" y="4250944"/>
            <a:ext cx="596900" cy="76200"/>
          </a:xfrm>
          <a:prstGeom prst="rect">
            <a:avLst/>
          </a:prstGeom>
          <a:solidFill>
            <a:srgbClr val="6B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 rot="21492000">
            <a:off x="11224260" y="4242054"/>
            <a:ext cx="596900" cy="76200"/>
          </a:xfrm>
          <a:prstGeom prst="rect">
            <a:avLst/>
          </a:prstGeom>
          <a:solidFill>
            <a:srgbClr val="6B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12480" y="4343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Node.js v24  →  runtime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12480" y="4727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concurrently  →  mono-repo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0" y="51114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TypeScript 5.4 (both sides)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0" y="54955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ESLint  →  linting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no PostgreSQL · no MongoDB · no OpenAI direct API · no microservices · no cloud deployment (local dev)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Quicksand"/>
              </a:rPr>
              <a:t>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Database Architecture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84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16000" y="1143762"/>
            <a:ext cx="584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574800" y="1134872"/>
            <a:ext cx="584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133600" y="1124712"/>
            <a:ext cx="584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692400" y="1114552"/>
            <a:ext cx="584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251200" y="1105662"/>
            <a:ext cx="584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810000" y="1114552"/>
            <a:ext cx="584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368800" y="1124712"/>
            <a:ext cx="584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08000">
            <a:off x="4927600" y="1134872"/>
            <a:ext cx="584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SQLite via better-sqlite3  ·  WAL journal mode  ·  Foreign key constraints  ·  AUTOINCREMENT PKs  ·  CASCADE DELETE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874519"/>
            <a:ext cx="5577840" cy="868680"/>
          </a:xfrm>
          <a:prstGeom prst="roundRect">
            <a:avLst/>
          </a:prstGeom>
          <a:solidFill>
            <a:srgbClr val="F7F9F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92938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Permanent Marker"/>
              </a:rPr>
              <a:t>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1929383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6"/>
                </a:solidFill>
                <a:latin typeface="Quicksand"/>
              </a:rPr>
              <a:t>id, email, password_hash, full_name, created_at, updated_at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74519"/>
            <a:ext cx="5577840" cy="868680"/>
          </a:xfrm>
          <a:prstGeom prst="roundRect">
            <a:avLst/>
          </a:prstGeom>
          <a:solidFill>
            <a:srgbClr val="F7F9F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92938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6A34A"/>
                </a:solidFill>
                <a:latin typeface="Permanent Marker"/>
              </a:rPr>
              <a:t>profiles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1929383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6"/>
                </a:solidFill>
                <a:latin typeface="Quicksand"/>
              </a:rPr>
              <a:t>id, user_id, university, degree, branch, graduation_year, cgpa, backlogs, preferred_role, target_company, onboarding_completed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880359"/>
            <a:ext cx="5577840" cy="868680"/>
          </a:xfrm>
          <a:prstGeom prst="roundRect">
            <a:avLst/>
          </a:prstGeom>
          <a:solidFill>
            <a:srgbClr val="F7F9F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93522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Permanent Marker"/>
              </a:rPr>
              <a:t>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935223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6"/>
                </a:solidFill>
                <a:latin typeface="Quicksand"/>
              </a:rPr>
              <a:t>id, user_id, name, category, created_at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880359"/>
            <a:ext cx="5577840" cy="868680"/>
          </a:xfrm>
          <a:prstGeom prst="roundRect">
            <a:avLst/>
          </a:prstGeom>
          <a:solidFill>
            <a:srgbClr val="F7F9F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293522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6A34A"/>
                </a:solidFill>
                <a:latin typeface="Permanent Marker"/>
              </a:rPr>
              <a:t>projects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935223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6"/>
                </a:solidFill>
                <a:latin typeface="Quicksand"/>
              </a:rPr>
              <a:t>id, user_id, name, description, technologies, created_at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886199"/>
            <a:ext cx="5577840" cy="868680"/>
          </a:xfrm>
          <a:prstGeom prst="roundRect">
            <a:avLst/>
          </a:prstGeom>
          <a:solidFill>
            <a:srgbClr val="F7F9F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394106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Permanent Marker"/>
              </a:rPr>
              <a:t>certifications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3941063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6"/>
                </a:solidFill>
                <a:latin typeface="Quicksand"/>
              </a:rPr>
              <a:t>id, user_id, name, issuer, year, created_at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886199"/>
            <a:ext cx="5577840" cy="868680"/>
          </a:xfrm>
          <a:prstGeom prst="roundRect">
            <a:avLst/>
          </a:prstGeom>
          <a:solidFill>
            <a:srgbClr val="F7F9F7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394106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C2626"/>
                </a:solidFill>
                <a:latin typeface="Permanent Marker"/>
              </a:rPr>
              <a:t>resumes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941063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6"/>
                </a:solidFill>
                <a:latin typeface="Quicksand"/>
              </a:rPr>
              <a:t>id, user_id, filename, original_name, file_type, file_size, extracted_text, upload_date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892039"/>
            <a:ext cx="5577840" cy="868680"/>
          </a:xfrm>
          <a:prstGeom prst="roundRect">
            <a:avLst/>
          </a:prstGeom>
          <a:solidFill>
            <a:srgbClr val="F7F9F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94690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6A34A"/>
                </a:solidFill>
                <a:latin typeface="Permanent Marker"/>
              </a:rPr>
              <a:t>analyses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4946903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6"/>
                </a:solidFill>
                <a:latin typeface="Quicksand"/>
              </a:rPr>
              <a:t>id, user_id, type[eligibility|skill-gap|preparation], target_company, target_role, result, created_at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892039"/>
            <a:ext cx="5577840" cy="868680"/>
          </a:xfrm>
          <a:prstGeom prst="roundRect">
            <a:avLst/>
          </a:prstGeom>
          <a:solidFill>
            <a:srgbClr val="F7F9F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494690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Permanent Marker"/>
              </a:rPr>
              <a:t>chat_messages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946903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6"/>
                </a:solidFill>
                <a:latin typeface="Quicksand"/>
              </a:rPr>
              <a:t>id, user_id, role[user|assistant], content, created_at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all tables use FOREIGN KEY (user_id) REFERENCES users(id) ON DELETE CASCADE  ·  PRAGMA foreign_keys = 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Quicksand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Authentication &amp; Security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51560" y="114376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645920" y="113487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240280" y="112471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834640" y="111455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429000" y="110566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4023360" y="111455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617720" y="112471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08000">
            <a:off x="5212080" y="113487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492000">
            <a:off x="5806440" y="1143762"/>
            <a:ext cx="6197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1417320"/>
            <a:ext cx="11338560" cy="65836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554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Permanent Marker"/>
              </a:rPr>
              <a:t>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155448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email + password + fullName → bcrypt hash (12 rounds) → stored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167128"/>
            <a:ext cx="11338560" cy="658368"/>
          </a:xfrm>
          <a:prstGeom prst="roundRect">
            <a:avLst/>
          </a:prstGeom>
          <a:solidFill>
            <a:srgbClr val="F0FBF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3042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6A34A"/>
                </a:solidFill>
                <a:latin typeface="Permanent Marker"/>
              </a:rPr>
              <a:t>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30428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email + password → bcrypt compare → JWT signed (HS256)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916936"/>
            <a:ext cx="11338560" cy="65836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05409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Permanent Marker"/>
              </a:rPr>
              <a:t>JWT Payload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05409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userId + email → signed with JWT_SECRET → 7 day expiry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666744"/>
            <a:ext cx="11338560" cy="658368"/>
          </a:xfrm>
          <a:prstGeom prst="roundRect">
            <a:avLst/>
          </a:prstGeom>
          <a:solidFill>
            <a:srgbClr val="FFF3F3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0390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C2626"/>
                </a:solidFill>
                <a:latin typeface="Permanent Marker"/>
              </a:rPr>
              <a:t>Every 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80390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Authorization: Bearer &lt;token&gt; → authenticateToken middleware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416552"/>
            <a:ext cx="11338560" cy="658368"/>
          </a:xfrm>
          <a:prstGeom prst="roundRect">
            <a:avLst/>
          </a:prstGeom>
          <a:solidFill>
            <a:srgbClr val="F0FBF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537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6A34A"/>
                </a:solidFill>
                <a:latin typeface="Permanent Marker"/>
              </a:rPr>
              <a:t>Middleware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55371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jwt.verify() → extract userId → attach to req.userId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166360"/>
            <a:ext cx="11338560" cy="65836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3035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Permanent Marker"/>
              </a:rPr>
              <a:t>Protected Route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30352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req.userId used to query DB — user-scoped data isolation</a:t>
            </a:r>
          </a:p>
        </p:txBody>
      </p:sp>
      <p:sp>
        <p:nvSpPr>
          <p:cNvPr id="33" name="Rectangle 32"/>
          <p:cNvSpPr/>
          <p:nvPr/>
        </p:nvSpPr>
        <p:spPr>
          <a:xfrm rot="21480000">
            <a:off x="914400" y="5623560"/>
            <a:ext cx="2377440" cy="914400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100" b="0">
                <a:solidFill>
                  <a:srgbClr val="111111"/>
                </a:solidFill>
                <a:latin typeface="Kalam"/>
              </a:rPr>
              <a:t>Azure creds NEVER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reach frontend 🔐</a:t>
            </a:r>
          </a:p>
        </p:txBody>
      </p:sp>
      <p:sp>
        <p:nvSpPr>
          <p:cNvPr id="34" name="Rectangle 33"/>
          <p:cNvSpPr/>
          <p:nvPr/>
        </p:nvSpPr>
        <p:spPr>
          <a:xfrm rot="120000">
            <a:off x="5486400" y="5623560"/>
            <a:ext cx="2377440" cy="914400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100" b="0">
                <a:solidFill>
                  <a:srgbClr val="111111"/>
                </a:solidFill>
                <a:latin typeface="Kalam"/>
              </a:rPr>
              <a:t>passwords never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stored plain 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stateless JWT — no session storage  ·  token stored in localStorage (client)  ·  verified on every API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Quicksand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Value of the Platform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28700" y="114376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600200" y="113487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171700" y="112471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743200" y="111455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314700" y="110566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886200" y="111455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2000">
            <a:off x="4457700" y="1124712"/>
            <a:ext cx="5969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1371600"/>
            <a:ext cx="5486400" cy="429768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444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For Students  (primary)</a:t>
            </a:r>
          </a:p>
        </p:txBody>
      </p:sp>
      <p:sp>
        <p:nvSpPr>
          <p:cNvPr id="15" name="Rectangle 14"/>
          <p:cNvSpPr/>
          <p:nvPr/>
        </p:nvSpPr>
        <p:spPr>
          <a:xfrm rot="108000">
            <a:off x="502920" y="184810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1492000">
            <a:off x="1371600" y="185699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108000">
            <a:off x="2240280" y="184810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1492000">
            <a:off x="3108960" y="183794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108000">
            <a:off x="3977640" y="182778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1492000">
            <a:off x="4846320" y="1818894"/>
            <a:ext cx="89408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92024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One platform for all placement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0428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Clear eligibility status per requirement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88336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Precise, distinction between gap vs. missing info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072384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Resume aligned to target role in AI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45643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Phase-based, structured preparation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8404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Natural language AI placement 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2452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Conversation history for follow-up questions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08576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Personalised — not generic advice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1371600"/>
            <a:ext cx="5303520" cy="429768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4447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Permanent Marker"/>
              </a:rPr>
              <a:t>For Institutions  (future)</a:t>
            </a:r>
          </a:p>
        </p:txBody>
      </p:sp>
      <p:sp>
        <p:nvSpPr>
          <p:cNvPr id="31" name="Rectangle 30"/>
          <p:cNvSpPr/>
          <p:nvPr/>
        </p:nvSpPr>
        <p:spPr>
          <a:xfrm rot="108000">
            <a:off x="6263640" y="1848104"/>
            <a:ext cx="8636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21492000">
            <a:off x="7101840" y="1856994"/>
            <a:ext cx="8636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108000">
            <a:off x="7940040" y="1848104"/>
            <a:ext cx="8636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21492000">
            <a:off x="8778240" y="1837944"/>
            <a:ext cx="8636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108000">
            <a:off x="9616440" y="1827784"/>
            <a:ext cx="8636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1492000">
            <a:off x="10454640" y="1818894"/>
            <a:ext cx="8636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92024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Centralised placement knowledge base via RAG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230428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Scalable AI-based guidance to entire cohort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268833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Consistent, knowledge-grounded student advice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0723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Reduced manual placement counselling 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45643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Structured, repeatable guidance process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84048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Foundation for placement analytics</a:t>
            </a:r>
          </a:p>
        </p:txBody>
      </p:sp>
      <p:sp>
        <p:nvSpPr>
          <p:cNvPr id="43" name="Rectangle 42"/>
          <p:cNvSpPr/>
          <p:nvPr/>
        </p:nvSpPr>
        <p:spPr>
          <a:xfrm rot="21480000">
            <a:off x="9418320" y="5212080"/>
            <a:ext cx="2377440" cy="1005840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00" b="0">
                <a:solidFill>
                  <a:srgbClr val="111111"/>
                </a:solidFill>
                <a:latin typeface="Kalam"/>
              </a:rPr>
              <a:t>all benefits are</a:t>
            </a:r>
          </a:p>
          <a:p>
            <a:r>
              <a:rPr sz="1000" b="0">
                <a:solidFill>
                  <a:srgbClr val="111111"/>
                </a:solidFill>
                <a:latin typeface="Kalam"/>
              </a:rPr>
              <a:t>qualitative.</a:t>
            </a:r>
          </a:p>
          <a:p>
            <a:r>
              <a:rPr sz="1000" b="0">
                <a:solidFill>
                  <a:srgbClr val="111111"/>
                </a:solidFill>
                <a:latin typeface="Kalam"/>
              </a:rPr>
              <a:t>no stats claimed</a:t>
            </a:r>
          </a:p>
          <a:p>
            <a:r>
              <a:rPr sz="1000" b="0">
                <a:solidFill>
                  <a:srgbClr val="111111"/>
                </a:solidFill>
                <a:latin typeface="Kalam"/>
              </a:rPr>
              <a:t>— platform is v1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263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benefits are based on implemented features only — future features are in roadmap slides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Quicksand"/>
              </a:rP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  <a:latin typeface="Permanent Marker"/>
              </a:rPr>
              <a:t>Future Scope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613228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1045028" y="1143762"/>
            <a:ext cx="613228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632856" y="1134872"/>
            <a:ext cx="613228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220684" y="1124712"/>
            <a:ext cx="613228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808512" y="1114552"/>
            <a:ext cx="613228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396340" y="1105662"/>
            <a:ext cx="613228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984168" y="1114552"/>
            <a:ext cx="613228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Quicksand"/>
              </a:rPr>
              <a:t>All items below are FUTURE scope — not part of the current delivered 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828800"/>
            <a:ext cx="5577840" cy="749808"/>
          </a:xfrm>
          <a:prstGeom prst="roundRect">
            <a:avLst/>
          </a:prstGeom>
          <a:solidFill>
            <a:srgbClr val="F8F8F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" y="201168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497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Permanent Mark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883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Permanent Marker"/>
              </a:rPr>
              <a:t>Multi-Agent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23113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6"/>
                </a:solidFill>
                <a:latin typeface="Quicksand"/>
              </a:rPr>
              <a:t>Specialised AI agents per domain: eligibility, resume, interviews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28800"/>
            <a:ext cx="5577840" cy="749808"/>
          </a:xfrm>
          <a:prstGeom prst="roundRect">
            <a:avLst/>
          </a:prstGeom>
          <a:solidFill>
            <a:srgbClr val="F8F8F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5080" y="20116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0497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Permanent Marke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883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Permanent Marker"/>
              </a:rPr>
              <a:t>Recruiter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23113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6"/>
                </a:solidFill>
                <a:latin typeface="Quicksand"/>
              </a:rPr>
              <a:t>Company-facing portal for requirements and candidate matching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697480"/>
            <a:ext cx="5577840" cy="749808"/>
          </a:xfrm>
          <a:prstGeom prst="roundRect">
            <a:avLst/>
          </a:prstGeom>
          <a:solidFill>
            <a:srgbClr val="F8F8F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288036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9184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Permanent Marker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2752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Permanent Marker"/>
              </a:rPr>
              <a:t>Advanced Resume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0998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6"/>
                </a:solidFill>
                <a:latin typeface="Quicksand"/>
              </a:rPr>
              <a:t>AI-based resume quality score and role-alignment metric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2697480"/>
            <a:ext cx="5577840" cy="749808"/>
          </a:xfrm>
          <a:prstGeom prst="roundRect">
            <a:avLst/>
          </a:prstGeom>
          <a:solidFill>
            <a:srgbClr val="F8F8F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55080" y="288036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9184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Permanent Mark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52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Permanent Marker"/>
              </a:rPr>
              <a:t>Interview Simulation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0998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6"/>
                </a:solidFill>
                <a:latin typeface="Quicksand"/>
              </a:rPr>
              <a:t>Mock interview practice with AI-generated technical + HR questions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566160"/>
            <a:ext cx="5577840" cy="749808"/>
          </a:xfrm>
          <a:prstGeom prst="roundRect">
            <a:avLst/>
          </a:prstGeom>
          <a:solidFill>
            <a:srgbClr val="F8F8F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7200" y="37490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7871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Permanent Marker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6210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Permanent Marker"/>
              </a:rPr>
              <a:t>Job Recommendation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39684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6"/>
                </a:solidFill>
                <a:latin typeface="Quicksand"/>
              </a:rPr>
              <a:t>Personalised role suggestions based on student skill profile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3566160"/>
            <a:ext cx="5577840" cy="749808"/>
          </a:xfrm>
          <a:prstGeom prst="roundRect">
            <a:avLst/>
          </a:prstGeom>
          <a:solidFill>
            <a:srgbClr val="F8F8F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55080" y="374904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7871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Permanent Marker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6210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Permanent Marker"/>
              </a:rPr>
              <a:t>Voice AI Assistant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9684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6"/>
                </a:solidFill>
                <a:latin typeface="Quicksand"/>
              </a:rPr>
              <a:t>Speech-based interaction with the AI placement assistant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4434840"/>
            <a:ext cx="5577840" cy="749808"/>
          </a:xfrm>
          <a:prstGeom prst="roundRect">
            <a:avLst/>
          </a:prstGeom>
          <a:solidFill>
            <a:srgbClr val="F8F8F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7200" y="461772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6558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Permanent Marker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44897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Permanent Marker"/>
              </a:rPr>
              <a:t>Placement Cell Analytics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48371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6"/>
                </a:solidFill>
                <a:latin typeface="Quicksand"/>
              </a:rPr>
              <a:t>Cohort readiness dashboard, skill distribution, batch insights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4434840"/>
            <a:ext cx="5577840" cy="749808"/>
          </a:xfrm>
          <a:prstGeom prst="roundRect">
            <a:avLst/>
          </a:prstGeom>
          <a:solidFill>
            <a:srgbClr val="F8F8F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55080" y="46177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46558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Permanent Marker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44897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Permanent Marker"/>
              </a:rPr>
              <a:t>Multi-University Deployment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8371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6"/>
                </a:solidFill>
                <a:latin typeface="Quicksand"/>
              </a:rPr>
              <a:t>Cloud-deployed SaaS serving multiple institutions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5303520"/>
            <a:ext cx="5577840" cy="749808"/>
          </a:xfrm>
          <a:prstGeom prst="roundRect">
            <a:avLst/>
          </a:prstGeom>
          <a:solidFill>
            <a:srgbClr val="F8F8F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57200" y="548640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5245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Permanent Marker"/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" y="53583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Permanent Marker"/>
              </a:rPr>
              <a:t>Live Job API Integration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" y="57058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6"/>
                </a:solidFill>
                <a:latin typeface="Quicksand"/>
              </a:rPr>
              <a:t>Real-time placement drive and job listing feed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5303520"/>
            <a:ext cx="5577840" cy="749808"/>
          </a:xfrm>
          <a:prstGeom prst="roundRect">
            <a:avLst/>
          </a:prstGeom>
          <a:solidFill>
            <a:srgbClr val="F8F8F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355080" y="548640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5245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Permanent Marker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53583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Permanent Marker"/>
              </a:rPr>
              <a:t>Learning Recommendations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57058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6"/>
                </a:solidFill>
                <a:latin typeface="Quicksand"/>
              </a:rPr>
              <a:t>Curated course/resource links per confirmed skill gap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future scope is listed to show awareness of the ecosystem — none of the above is implemented in v1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Quicksand"/>
              </a:rPr>
              <a:t>WRAPPING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11111"/>
                </a:solidFill>
                <a:latin typeface="Permanent Marker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 rot="108000">
            <a:off x="457200" y="1134872"/>
            <a:ext cx="547914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92000">
            <a:off x="979714" y="1143762"/>
            <a:ext cx="547914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">
            <a:off x="1502228" y="1134872"/>
            <a:ext cx="547914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92000">
            <a:off x="2024742" y="1124712"/>
            <a:ext cx="547914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">
            <a:off x="2547256" y="1114552"/>
            <a:ext cx="547914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92000">
            <a:off x="3069770" y="1105662"/>
            <a:ext cx="547914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08000">
            <a:off x="3592284" y="1114552"/>
            <a:ext cx="547914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Quicksand"/>
              </a:rPr>
              <a:t>Campus Placement AI transforms fragmented placement information into a centralised, knowledge-grounded AI experience — helping students understand exactly where they stand, what they're missing, and how to prepare.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331720"/>
            <a:ext cx="2148840" cy="1143000"/>
          </a:xfrm>
          <a:prstGeom prst="roundRect">
            <a:avLst/>
          </a:prstGeom>
          <a:solidFill>
            <a:srgbClr val="F6F8F6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563EB"/>
                </a:solidFill>
                <a:latin typeface="Permanent Marker"/>
              </a:rPr>
              <a:t>Student</a:t>
            </a:r>
          </a:p>
          <a:p>
            <a:pPr algn="ctr"/>
            <a:r>
              <a:rPr sz="1200" b="0" i="0">
                <a:solidFill>
                  <a:srgbClr val="2563EB"/>
                </a:solidFill>
                <a:latin typeface="Permanent Marker"/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7889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B6B66"/>
                </a:solidFill>
                <a:latin typeface="Permanent Marker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2331720"/>
            <a:ext cx="2148840" cy="1143000"/>
          </a:xfrm>
          <a:prstGeom prst="roundRect">
            <a:avLst/>
          </a:prstGeom>
          <a:solidFill>
            <a:srgbClr val="F6F8F6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5146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A34A"/>
                </a:solidFill>
                <a:latin typeface="Permanent Marker"/>
              </a:rPr>
              <a:t>Resume</a:t>
            </a:r>
          </a:p>
          <a:p>
            <a:pPr algn="ctr"/>
            <a:r>
              <a:rPr sz="1200" b="0" i="0">
                <a:solidFill>
                  <a:srgbClr val="16A34A"/>
                </a:solidFill>
                <a:latin typeface="Permanent Marker"/>
              </a:rPr>
              <a:t>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7889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B6B66"/>
                </a:solidFill>
                <a:latin typeface="Permanent Marker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2331720"/>
            <a:ext cx="2148840" cy="1143000"/>
          </a:xfrm>
          <a:prstGeom prst="roundRect">
            <a:avLst/>
          </a:prstGeom>
          <a:solidFill>
            <a:srgbClr val="F6F8F6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5146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C2626"/>
                </a:solidFill>
                <a:latin typeface="Permanent Marker"/>
              </a:rPr>
              <a:t>RAG</a:t>
            </a:r>
          </a:p>
          <a:p>
            <a:pPr algn="ctr"/>
            <a:r>
              <a:rPr sz="1200" b="0" i="0">
                <a:solidFill>
                  <a:srgbClr val="DC2626"/>
                </a:solidFill>
                <a:latin typeface="Permanent Marker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7889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B6B66"/>
                </a:solidFill>
                <a:latin typeface="Permanent Marker"/>
              </a:rP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331720"/>
            <a:ext cx="2148840" cy="1143000"/>
          </a:xfrm>
          <a:prstGeom prst="roundRect">
            <a:avLst/>
          </a:prstGeom>
          <a:solidFill>
            <a:srgbClr val="F6F8F6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25146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563EB"/>
                </a:solidFill>
                <a:latin typeface="Permanent Marker"/>
              </a:rPr>
              <a:t>Azure AI</a:t>
            </a:r>
          </a:p>
          <a:p>
            <a:pPr algn="ctr"/>
            <a:r>
              <a:rPr sz="1200" b="0" i="0">
                <a:solidFill>
                  <a:srgbClr val="2563EB"/>
                </a:solidFill>
                <a:latin typeface="Permanent Marker"/>
              </a:rPr>
              <a:t>Foundry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7889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B6B66"/>
                </a:solidFill>
                <a:latin typeface="Permanent Marker"/>
              </a:rPr>
              <a:t>+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2331720"/>
            <a:ext cx="2148840" cy="1143000"/>
          </a:xfrm>
          <a:prstGeom prst="roundRect">
            <a:avLst/>
          </a:prstGeom>
          <a:solidFill>
            <a:srgbClr val="F6F8F6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5146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A34A"/>
                </a:solidFill>
                <a:latin typeface="Permanent Marker"/>
              </a:rPr>
              <a:t>Personalised</a:t>
            </a:r>
          </a:p>
          <a:p>
            <a:pPr algn="ctr"/>
            <a:r>
              <a:rPr sz="1200" b="0" i="0">
                <a:solidFill>
                  <a:srgbClr val="16A34A"/>
                </a:solidFill>
                <a:latin typeface="Permanent Marker"/>
              </a:rPr>
              <a:t>Analysis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703320"/>
            <a:ext cx="3749039" cy="100584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776472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Permanent Marker"/>
              </a:rPr>
              <a:t>WHERE THEY STAND</a:t>
            </a:r>
          </a:p>
        </p:txBody>
      </p:sp>
      <p:sp>
        <p:nvSpPr>
          <p:cNvPr id="29" name="Rectangle 28"/>
          <p:cNvSpPr/>
          <p:nvPr/>
        </p:nvSpPr>
        <p:spPr>
          <a:xfrm rot="108000">
            <a:off x="548640" y="4179824"/>
            <a:ext cx="604519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1492000">
            <a:off x="1127759" y="4188714"/>
            <a:ext cx="604519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108000">
            <a:off x="1706878" y="4179824"/>
            <a:ext cx="604519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21492000">
            <a:off x="2285997" y="4169664"/>
            <a:ext cx="604519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108000">
            <a:off x="2865116" y="4159504"/>
            <a:ext cx="604519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21492000">
            <a:off x="3444235" y="4150614"/>
            <a:ext cx="604519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251960"/>
            <a:ext cx="34289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Eligibility clarity per criterion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3703320"/>
            <a:ext cx="3749039" cy="100584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3776472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  <a:latin typeface="Permanent Marker"/>
              </a:rPr>
              <a:t>WHAT'S MISSING</a:t>
            </a:r>
          </a:p>
        </p:txBody>
      </p:sp>
      <p:sp>
        <p:nvSpPr>
          <p:cNvPr id="38" name="Rectangle 37"/>
          <p:cNvSpPr/>
          <p:nvPr/>
        </p:nvSpPr>
        <p:spPr>
          <a:xfrm rot="108000">
            <a:off x="4480560" y="4179824"/>
            <a:ext cx="604519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1492000">
            <a:off x="5059679" y="4188714"/>
            <a:ext cx="604519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108000">
            <a:off x="5638798" y="4179824"/>
            <a:ext cx="604519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 rot="21492000">
            <a:off x="6217917" y="4169664"/>
            <a:ext cx="604519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108000">
            <a:off x="6797036" y="4159504"/>
            <a:ext cx="604519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 rot="21492000">
            <a:off x="7376155" y="4150614"/>
            <a:ext cx="604519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80" y="4251960"/>
            <a:ext cx="34289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Confirmed gap identification (not guessed)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75320" y="3703320"/>
            <a:ext cx="3749039" cy="1005840"/>
          </a:xfrm>
          <a:prstGeom prst="roundRect">
            <a:avLst/>
          </a:prstGeom>
          <a:solidFill>
            <a:srgbClr val="F7F7F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776472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Permanent Marker"/>
              </a:rPr>
              <a:t>HOW TO PREPARE</a:t>
            </a:r>
          </a:p>
        </p:txBody>
      </p:sp>
      <p:sp>
        <p:nvSpPr>
          <p:cNvPr id="47" name="Rectangle 46"/>
          <p:cNvSpPr/>
          <p:nvPr/>
        </p:nvSpPr>
        <p:spPr>
          <a:xfrm rot="108000">
            <a:off x="8412480" y="4179824"/>
            <a:ext cx="604519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21492000">
            <a:off x="8991599" y="4188714"/>
            <a:ext cx="604519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108000">
            <a:off x="9570718" y="4179824"/>
            <a:ext cx="604519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1492000">
            <a:off x="10149837" y="4169664"/>
            <a:ext cx="604519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 rot="108000">
            <a:off x="10728956" y="4159504"/>
            <a:ext cx="604519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21492000">
            <a:off x="11308075" y="4150614"/>
            <a:ext cx="604519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8200" y="4251960"/>
            <a:ext cx="34289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Quicksand"/>
              </a:rPr>
              <a:t>Phase-based personalised plan</a:t>
            </a:r>
          </a:p>
        </p:txBody>
      </p:sp>
      <p:sp>
        <p:nvSpPr>
          <p:cNvPr id="54" name="Rectangle 53"/>
          <p:cNvSpPr/>
          <p:nvPr/>
        </p:nvSpPr>
        <p:spPr>
          <a:xfrm rot="21510000">
            <a:off x="8412480" y="2148840"/>
            <a:ext cx="3383280" cy="1463040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200" b="0">
                <a:solidFill>
                  <a:srgbClr val="111111"/>
                </a:solidFill>
                <a:latin typeface="Kalam"/>
              </a:rPr>
              <a:t>"from placement</a:t>
            </a:r>
          </a:p>
          <a:p>
            <a:r>
              <a:rPr sz="1200" b="0">
                <a:solidFill>
                  <a:srgbClr val="111111"/>
                </a:solidFill>
                <a:latin typeface="Kalam"/>
              </a:rPr>
              <a:t>information to</a:t>
            </a:r>
          </a:p>
          <a:p>
            <a:r>
              <a:rPr sz="1200" b="0">
                <a:solidFill>
                  <a:srgbClr val="111111"/>
                </a:solidFill>
                <a:latin typeface="Kalam"/>
              </a:rPr>
              <a:t>placement</a:t>
            </a:r>
          </a:p>
          <a:p>
            <a:r>
              <a:rPr sz="1200" b="0">
                <a:solidFill>
                  <a:srgbClr val="111111"/>
                </a:solidFill>
                <a:latin typeface="Kalam"/>
              </a:rPr>
              <a:t>intelligence ✨"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6"/>
                </a:solidFill>
                <a:latin typeface="Quicksand"/>
              </a:rPr>
              <a:t>campus placement ai  ·  built with React · Express · SQLite · Azure AI Foundry · CampusPlacementAgent · gpt-4.1-mini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noFill/>
          <a:ln w="19050">
            <a:solidFill>
              <a:srgbClr val="E3E3DB"/>
            </a:solidFill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 i="0">
                <a:solidFill>
                  <a:srgbClr val="111111"/>
                </a:solidFill>
                <a:latin typeface="Permanent Marker"/>
              </a:rP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 rot="108000">
            <a:off x="1828800" y="264363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492000">
            <a:off x="2360295" y="265252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08000">
            <a:off x="2891790" y="264363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92000">
            <a:off x="3423285" y="263347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">
            <a:off x="3954780" y="262331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1492000">
            <a:off x="4486275" y="261442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08000">
            <a:off x="5017770" y="262331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1492000">
            <a:off x="5549265" y="263347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08000">
            <a:off x="6080760" y="264363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1492000">
            <a:off x="6612255" y="265252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08000">
            <a:off x="7143750" y="264363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1492000">
            <a:off x="7675245" y="263347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108000">
            <a:off x="8206740" y="262331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1492000">
            <a:off x="8738235" y="261442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108000">
            <a:off x="9269730" y="262331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1492000">
            <a:off x="9801225" y="2633472"/>
            <a:ext cx="5568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27889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B6B66"/>
                </a:solidFill>
                <a:latin typeface="Quicksand"/>
              </a:rPr>
              <a:t>Questions  &amp;  Discussion</a:t>
            </a:r>
          </a:p>
        </p:txBody>
      </p:sp>
      <p:sp>
        <p:nvSpPr>
          <p:cNvPr id="21" name="Rectangle 20"/>
          <p:cNvSpPr/>
          <p:nvPr/>
        </p:nvSpPr>
        <p:spPr>
          <a:xfrm rot="90000">
            <a:off x="457200" y="3611880"/>
            <a:ext cx="2697480" cy="658368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[Team Member 1]  ·  [Roll No]</a:t>
            </a:r>
          </a:p>
        </p:txBody>
      </p:sp>
      <p:sp>
        <p:nvSpPr>
          <p:cNvPr id="22" name="Rectangle 21"/>
          <p:cNvSpPr/>
          <p:nvPr/>
        </p:nvSpPr>
        <p:spPr>
          <a:xfrm rot="21480000">
            <a:off x="3383280" y="3611880"/>
            <a:ext cx="2697480" cy="658368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[Team Member 2]  ·  [Roll No]</a:t>
            </a:r>
          </a:p>
        </p:txBody>
      </p:sp>
      <p:sp>
        <p:nvSpPr>
          <p:cNvPr id="23" name="Rectangle 22"/>
          <p:cNvSpPr/>
          <p:nvPr/>
        </p:nvSpPr>
        <p:spPr>
          <a:xfrm rot="120000">
            <a:off x="6309360" y="3611880"/>
            <a:ext cx="2697480" cy="658368"/>
          </a:xfrm>
          <a:prstGeom prst="rect">
            <a:avLst/>
          </a:prstGeom>
          <a:solidFill>
            <a:srgbClr val="FEF08A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[Team Member 3]  ·  [Roll No]</a:t>
            </a:r>
          </a:p>
        </p:txBody>
      </p:sp>
      <p:sp>
        <p:nvSpPr>
          <p:cNvPr id="24" name="Rectangle 23"/>
          <p:cNvSpPr/>
          <p:nvPr/>
        </p:nvSpPr>
        <p:spPr>
          <a:xfrm rot="21510000">
            <a:off x="9235440" y="3611880"/>
            <a:ext cx="2697480" cy="658368"/>
          </a:xfrm>
          <a:prstGeom prst="rect">
            <a:avLst/>
          </a:prstGeom>
          <a:solidFill>
            <a:srgbClr val="FBCFE8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050" b="0">
                <a:solidFill>
                  <a:srgbClr val="111111"/>
                </a:solidFill>
                <a:latin typeface="Kalam"/>
              </a:rPr>
              <a:t>[Team Member 4]  ·  [Roll No]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5262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6"/>
                </a:solidFill>
                <a:latin typeface="Quicksand"/>
              </a:rPr>
              <a:t>Faculty: [Mentor Name]  ·  [University Name]  ·  [Department]  ·  2025–26</a:t>
            </a:r>
          </a:p>
        </p:txBody>
      </p:sp>
      <p:sp>
        <p:nvSpPr>
          <p:cNvPr id="26" name="Rectangle 25"/>
          <p:cNvSpPr/>
          <p:nvPr/>
        </p:nvSpPr>
        <p:spPr>
          <a:xfrm rot="60000">
            <a:off x="4754880" y="5120640"/>
            <a:ext cx="2651760" cy="1097280"/>
          </a:xfrm>
          <a:prstGeom prst="rect">
            <a:avLst/>
          </a:prstGeom>
          <a:solidFill>
            <a:srgbClr val="BAFEFE"/>
          </a:solidFill>
          <a:ln w="6350">
            <a:solidFill>
              <a:srgbClr val="CCCCBB"/>
            </a:solidFill>
          </a:ln>
          <a:effectLst>
            <a:outerShdw blurRad="38100" dist="254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/>
          <a:lstStyle/>
          <a:p>
            <a:pPr algn="ctr"/>
            <a:r>
              <a:rPr sz="1100" b="0">
                <a:solidFill>
                  <a:srgbClr val="111111"/>
                </a:solidFill>
                <a:latin typeface="Kalam"/>
              </a:rPr>
              <a:t>powered by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Azure AI Foundry ☁</a:t>
            </a:r>
          </a:p>
          <a:p>
            <a:r>
              <a:rPr sz="1100" b="0">
                <a:solidFill>
                  <a:srgbClr val="111111"/>
                </a:solidFill>
                <a:latin typeface="Kalam"/>
              </a:rPr>
              <a:t>CampusPlacementAgent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11712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3E3DB"/>
                </a:solidFill>
                <a:latin typeface="Quicksand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